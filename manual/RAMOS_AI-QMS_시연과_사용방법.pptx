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78" r:id="rId1"/>
    <p:sldMasterId id="2147483687" r:id="rId2"/>
    <p:sldMasterId id="2147483710" r:id="rId3"/>
  </p:sldMasterIdLst>
  <p:notesMasterIdLst>
    <p:notesMasterId r:id="rId7"/>
  </p:notesMasterIdLst>
  <p:sldIdLst>
    <p:sldId id="337" r:id="rId4"/>
    <p:sldId id="434" r:id="rId5"/>
    <p:sldId id="435" r:id="rId6"/>
    <p:sldId id="436" r:id="rId12"/>
    <p:sldId id="437" r:id="rId13"/>
    <p:sldId id="438" r:id="rId14"/>
    <p:sldId id="439" r:id="rId15"/>
    <p:sldId id="440" r:id="rId16"/>
    <p:sldId id="441" r:id="rId17"/>
    <p:sldId id="442" r:id="rId18"/>
    <p:sldId id="443" r:id="rId19"/>
    <p:sldId id="444" r:id="rId20"/>
    <p:sldId id="445" r:id="rId21"/>
    <p:sldId id="446" r:id="rId22"/>
    <p:sldId id="447" r:id="rId23"/>
    <p:sldId id="448" r:id="rId24"/>
    <p:sldId id="449" r:id="rId25"/>
    <p:sldId id="450" r:id="rId26"/>
    <p:sldId id="451" r:id="rId27"/>
    <p:sldId id="452" r:id="rId28"/>
    <p:sldId id="453" r:id="rId29"/>
    <p:sldId id="454" r:id="rId30"/>
    <p:sldId id="455" r:id="rId31"/>
    <p:sldId id="456" r:id="rId32"/>
    <p:sldId id="457" r:id="rId33"/>
    <p:sldId id="458" r:id="rId34"/>
    <p:sldId id="459" r:id="rId35"/>
    <p:sldId id="460" r:id="rId36"/>
    <p:sldId id="461" r:id="rId37"/>
  </p:sldIdLst>
  <p:sldSz cx="12192000" cy="6858000"/>
  <p:notesSz cx="6784975" cy="99187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B4FA6"/>
    <a:srgbClr val="F79646"/>
    <a:srgbClr val="5B9A34"/>
    <a:srgbClr val="2A9AB8"/>
    <a:srgbClr val="FFFFFF"/>
    <a:srgbClr val="EEF4FC"/>
    <a:srgbClr val="0B1C46"/>
    <a:srgbClr val="10253F"/>
    <a:srgbClr val="233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6159" autoAdjust="0"/>
  </p:normalViewPr>
  <p:slideViewPr>
    <p:cSldViewPr snapToGrid="0">
      <p:cViewPr varScale="1">
        <p:scale>
          <a:sx n="114" d="100"/>
          <a:sy n="114" d="100"/>
        </p:scale>
        <p:origin x="66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10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" y="8"/>
            <a:ext cx="2940155" cy="497658"/>
          </a:xfrm>
          <a:prstGeom prst="rect">
            <a:avLst/>
          </a:prstGeom>
        </p:spPr>
        <p:txBody>
          <a:bodyPr vert="horz" lIns="91804" tIns="45899" rIns="91804" bIns="4589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3253" y="8"/>
            <a:ext cx="2940155" cy="497658"/>
          </a:xfrm>
          <a:prstGeom prst="rect">
            <a:avLst/>
          </a:prstGeom>
        </p:spPr>
        <p:txBody>
          <a:bodyPr vert="horz" lIns="91804" tIns="45899" rIns="91804" bIns="45899" rtlCol="0"/>
          <a:lstStyle>
            <a:lvl1pPr algn="r">
              <a:defRPr sz="1200"/>
            </a:lvl1pPr>
          </a:lstStyle>
          <a:p>
            <a:fld id="{6301BAA2-AB58-4D04-B5A8-1F63BB17EC18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5925" y="1238250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04" tIns="45899" rIns="91804" bIns="458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498" y="4773383"/>
            <a:ext cx="5427980" cy="3905488"/>
          </a:xfrm>
          <a:prstGeom prst="rect">
            <a:avLst/>
          </a:prstGeom>
        </p:spPr>
        <p:txBody>
          <a:bodyPr vert="horz" lIns="91804" tIns="45899" rIns="91804" bIns="45899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9" y="9421043"/>
            <a:ext cx="2940155" cy="497657"/>
          </a:xfrm>
          <a:prstGeom prst="rect">
            <a:avLst/>
          </a:prstGeom>
        </p:spPr>
        <p:txBody>
          <a:bodyPr vert="horz" lIns="91804" tIns="45899" rIns="91804" bIns="4589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3253" y="9421043"/>
            <a:ext cx="2940155" cy="497657"/>
          </a:xfrm>
          <a:prstGeom prst="rect">
            <a:avLst/>
          </a:prstGeom>
        </p:spPr>
        <p:txBody>
          <a:bodyPr vert="horz" lIns="91804" tIns="45899" rIns="91804" bIns="45899" rtlCol="0" anchor="b"/>
          <a:lstStyle>
            <a:lvl1pPr algn="r">
              <a:defRPr sz="1200"/>
            </a:lvl1pPr>
          </a:lstStyle>
          <a:p>
            <a:fld id="{12B9E8AF-E9A7-4939-A0EB-7D7DDF740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274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15925" y="1238250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품질 업무 세 가지(고객 부적합, 외주 품질, 내부 품질)를 한 시스템에 모았습니다. 무엇을 만들었는지, 업무에 어떻게 쓰는지, AI가 무엇을 돕는지를 화면과 시연으로 보여 드립니다.</a:t>
            </a:r>
          </a:p>
        </p:txBody>
      </p:sp>
    </p:spTree>
    <p:extLst>
      <p:ext uri="{BB962C8B-B14F-4D97-AF65-F5344CB8AC3E}">
        <p14:creationId xmlns:p14="http://schemas.microsoft.com/office/powerpoint/2010/main" val="2246140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순서. 시연은 5번에서 합니다. 부록에 화면 지도, 사용 순서, AI 기능표, 메일 규칙, 데이터, 검증, 용어가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업무는 같은 로그인·권한·근거 원본 보관·이력을 씁니다. 외주와 내부 기록은 필요하면 고객 8D Case에 연결할 수 있습니다. 색 구분: 파랑 고객, 주황 외주, 초록 내부.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겪는 어려움. 실적 숫자(건수·처리 기간)는 사내 자료 확인 후 보완합니다.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업무 모두에 적용되는 원칙. AI 결과에는 화면에 'AI 제안 · 사람 확인 필요' 표시가 붙습니다. 기록 없는 승인은 서버가 저장을 거부합니다.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고객 부적합은 8D 전체를 시스템에서 진행합니다. 종결은 D8의 8D Report 결재(간사→리더→챔피언)로 끝나고 고객 보고서 송부는 별도 기록입니다.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접수 화면에서 AI 추출, D1에서 팀 확정. 확정 순간 팀원에게 부적합 공유 메일이 나갑니다.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고객 공통 기한. 메일 색 띠: 파랑 공유, 노랑 주의, 주황 임박, 빨강 초과. 평가 기간이라 지금은 수신인 한 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D2는 사실과 가설을 섞지 않게 비교행마다 사실 확인. D3는 여러 부서 자료가 필요해 위치별 담당자 확인 요청 방식으로 보완할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시험 Case에서 실제 AI가 5~7초에 필수 5개 + Physical FA, 검사 Coverage, PFMEA Gap을 추천했습니다. 원인은 AI가 쓰지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체크한 후보만 '선정 안 됨'으로 들어갑니다. 생산이 외주라 대책 대부분이 외주사 변경이어서 PCN 표시가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숫자는 AI가 아니라 공식과 성적서에서만 나옵니다. 오른쪽은 검증용 PDF 성적서를 실제 AI가 읽은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D7에서 저장한 교훈은 다음 Case의 D5 대책 추천에 유사 사례로 들어갑니다. D8 이후 30·60·90일 재발 확인 메일이 자동으로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공식 외주사는 TechL(SMT 모듈 조립), WinPAC(OSAT 패키지), CTST(테스트 하우스). 외주사 계정은 자기 업체 건만 봅니다. 숫자는 저장된 기록에서만 계산합니다.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메일로 받던 외주 변경·불량 자료가 중앙에 원본째 쌓입니다. 제출 누락 점검은 AI가 아니라 규칙입니다. 고객 Case에 연결하면 D3·D4·D5로 가져올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공개는 사이트 게시이며 메일 자동 발송은 아닙니다. 종결에는 실제 검증 내용과 근거 원본이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고객 Case와 별도로 보관하는 사내 기록. 상태 변경은 품질 검토 권한자가 하고, 종결에는 검증 결과와 원본 근거가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누가 언제 승인하고 언제 실제로 적용했는지 이력이 남습니다. 내부 PCN 승인은 고객 승인과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AI는 고객 부적합 8D에 집중돼 있고, 외주·내부 기록은 8D에 연결하면 같은 AI를 씁니다. '아이디어'는 아직 만들지 않은 활용 방향입니다.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역할마다 하루에 하는 일. 단계별 순서는 부록에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준비: 시연용 DB를 D3 승인까지 진행. 계정 순서: 간사 sjkim → 리더 hskim → 챔피언 sahwang, 외주 시연은 thkwon(TechL). AI 응답이 늦으면 캡처로 진행. 모두 검증용 가상 자료입니다.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받겠습니다. 자세한 내용은 부록에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메뉴 이름 그대로입니다.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기안 후 리더, 챔피언 순으로 결재합니다.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AI 결과는 결재 내용에서 제외되고, 사람이 적용할 때만 기록에 들어갑니다.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 기간에는 모든 메일이 시험 수신자 한 명에게만 갑니다. 외주사 통보는 사이트 게시이며 메일로 보내지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질의 대비용입니다.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DB는 사용하지 않았고, 시험 중 메일 발송은 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질의 대비용입니다.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 flipV="1">
            <a:off x="0" y="4769066"/>
            <a:ext cx="12192000" cy="2088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-5380"/>
            <a:ext cx="12198096" cy="4769069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" name="제목 5"/>
          <p:cNvSpPr>
            <a:spLocks noGrp="1"/>
          </p:cNvSpPr>
          <p:nvPr>
            <p:ph type="title"/>
          </p:nvPr>
        </p:nvSpPr>
        <p:spPr>
          <a:xfrm>
            <a:off x="5379780" y="3543689"/>
            <a:ext cx="6288021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36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직사각형 1"/>
          <p:cNvSpPr/>
          <p:nvPr userDrawn="1"/>
        </p:nvSpPr>
        <p:spPr>
          <a:xfrm>
            <a:off x="5379780" y="4174884"/>
            <a:ext cx="37896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altLang="ko-KR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uality</a:t>
            </a:r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</a:t>
            </a:r>
            <a:r>
              <a:rPr lang="en-US" altLang="ko-KR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nnovation</a:t>
            </a:r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</a:t>
            </a:r>
            <a:r>
              <a:rPr lang="en-US" altLang="ko-KR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eam</a:t>
            </a:r>
            <a:endParaRPr lang="en-US" altLang="ko-KR" sz="20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직사각형 10"/>
          <p:cNvSpPr>
            <a:spLocks noChangeArrowheads="1"/>
          </p:cNvSpPr>
          <p:nvPr userDrawn="1"/>
        </p:nvSpPr>
        <p:spPr bwMode="auto">
          <a:xfrm>
            <a:off x="10968588" y="1"/>
            <a:ext cx="12234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sz="1400" b="1" dirty="0">
                <a:solidFill>
                  <a:srgbClr val="000066"/>
                </a:solidFill>
                <a:effectLst>
                  <a:outerShdw blurRad="50800" dist="38100" dir="3000000" algn="tl" rotWithShape="0">
                    <a:srgbClr val="0000FF">
                      <a:alpha val="41000"/>
                    </a:srgbClr>
                  </a:outerShdw>
                </a:effectLst>
              </a:rPr>
              <a:t>Confidential</a:t>
            </a:r>
            <a:endParaRPr lang="ko-KR" altLang="en-US" sz="1400" b="1" dirty="0">
              <a:solidFill>
                <a:srgbClr val="000066"/>
              </a:solidFill>
              <a:effectLst>
                <a:outerShdw blurRad="50800" dist="38100" dir="3000000" algn="tl" rotWithShape="0">
                  <a:srgbClr val="0000FF">
                    <a:alpha val="41000"/>
                  </a:srgbClr>
                </a:outerShdw>
              </a:effectLst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009" y="6298324"/>
            <a:ext cx="1366247" cy="39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63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1122238" y="6618855"/>
            <a:ext cx="106792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</a:t>
            </a:r>
            <a:r>
              <a:rPr lang="ko-KR" altLang="en-US" sz="900" b="1" dirty="0" smtClean="0">
                <a:solidFill>
                  <a:srgbClr val="002060"/>
                </a:solidFill>
                <a:ea typeface="맑은 고딕" panose="020B0503020000020004" pitchFamily="50" charset="-127"/>
              </a:rPr>
              <a:t>중</a:t>
            </a:r>
            <a:endParaRPr lang="ko-KR" altLang="en-US" sz="900" b="1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7315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TextBox 12"/>
          <p:cNvSpPr txBox="1">
            <a:spLocks noChangeArrowheads="1"/>
          </p:cNvSpPr>
          <p:nvPr userDrawn="1"/>
        </p:nvSpPr>
        <p:spPr bwMode="auto">
          <a:xfrm>
            <a:off x="10028100" y="6618855"/>
            <a:ext cx="20425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발표자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</a:t>
            </a:r>
          </a:p>
        </p:txBody>
      </p:sp>
    </p:spTree>
    <p:extLst>
      <p:ext uri="{BB962C8B-B14F-4D97-AF65-F5344CB8AC3E}">
        <p14:creationId xmlns:p14="http://schemas.microsoft.com/office/powerpoint/2010/main" val="628581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0028100" y="6618855"/>
            <a:ext cx="20425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발표자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</a:t>
            </a:r>
          </a:p>
        </p:txBody>
      </p:sp>
    </p:spTree>
    <p:extLst>
      <p:ext uri="{BB962C8B-B14F-4D97-AF65-F5344CB8AC3E}">
        <p14:creationId xmlns:p14="http://schemas.microsoft.com/office/powerpoint/2010/main" val="127341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895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0028100" y="6618855"/>
            <a:ext cx="20425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발표자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</a:t>
            </a:r>
          </a:p>
        </p:txBody>
      </p:sp>
    </p:spTree>
    <p:extLst>
      <p:ext uri="{BB962C8B-B14F-4D97-AF65-F5344CB8AC3E}">
        <p14:creationId xmlns:p14="http://schemas.microsoft.com/office/powerpoint/2010/main" val="205892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2.xml"/><Relationship Id="rId4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947" y="6582756"/>
            <a:ext cx="772507" cy="221495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893379" y="6597651"/>
            <a:ext cx="10405243" cy="260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fld id="{99AD7632-1104-4219-A49A-711D5A339A0F}" type="slidenum">
              <a:rPr lang="ko-KR" altLang="en-US" sz="1000" b="1" smtClean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ko-KR" altLang="en-US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 Total</a:t>
            </a:r>
            <a:endParaRPr lang="ko-KR" altLang="en-US" sz="1200" b="1" dirty="0">
              <a:solidFill>
                <a:srgbClr val="0000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12192000" cy="549275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10"/>
          <p:cNvSpPr>
            <a:spLocks noChangeArrowheads="1"/>
          </p:cNvSpPr>
          <p:nvPr userDrawn="1"/>
        </p:nvSpPr>
        <p:spPr bwMode="auto">
          <a:xfrm>
            <a:off x="10968588" y="1"/>
            <a:ext cx="12234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sz="1400" b="1" dirty="0">
                <a:solidFill>
                  <a:srgbClr val="000066"/>
                </a:solidFill>
                <a:effectLst>
                  <a:outerShdw blurRad="50800" dist="38100" dir="3000000" algn="tl" rotWithShape="0">
                    <a:srgbClr val="0000FF">
                      <a:alpha val="41000"/>
                    </a:srgbClr>
                  </a:outerShdw>
                </a:effectLst>
              </a:rPr>
              <a:t>Confidential</a:t>
            </a:r>
            <a:endParaRPr lang="ko-KR" altLang="en-US" sz="1400" b="1" dirty="0">
              <a:solidFill>
                <a:srgbClr val="000066"/>
              </a:solidFill>
              <a:effectLst>
                <a:outerShdw blurRad="50800" dist="38100" dir="3000000" algn="tl" rotWithShape="0">
                  <a:srgbClr val="0000FF">
                    <a:alpha val="41000"/>
                  </a:srgbClr>
                </a:outerShdw>
              </a:effectLst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843454" y="6597651"/>
            <a:ext cx="11348546" cy="0"/>
          </a:xfrm>
          <a:prstGeom prst="line">
            <a:avLst/>
          </a:prstGeom>
          <a:ln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97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2" r:id="rId2"/>
    <p:sldLayoutId id="2147483697" r:id="rId3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98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95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91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89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69888" indent="-369888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07975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366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19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272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4134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431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729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10026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98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95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91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89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86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08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377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 flipV="1">
            <a:off x="0" y="4769068"/>
            <a:ext cx="12198096" cy="2088932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8718080" y="3704373"/>
            <a:ext cx="28616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l"/>
            <a:r>
              <a:rPr lang="en-US" altLang="ko-KR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The End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8995977" y="4894910"/>
            <a:ext cx="269817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altLang="ko-KR" sz="2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uality</a:t>
            </a:r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</a:t>
            </a:r>
            <a:r>
              <a:rPr lang="en-US" altLang="ko-KR" sz="2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ssurance</a:t>
            </a:r>
            <a:endParaRPr lang="en-US" altLang="ko-KR" sz="20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0133" y="291663"/>
            <a:ext cx="1576550" cy="45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12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689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947" y="6582756"/>
            <a:ext cx="772507" cy="221495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893379" y="6597651"/>
            <a:ext cx="10405243" cy="260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fld id="{99AD7632-1104-4219-A49A-711D5A339A0F}" type="slidenum">
              <a:rPr lang="ko-KR" altLang="en-US" sz="1000" b="1" smtClean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ko-KR" altLang="en-US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 Total</a:t>
            </a:r>
            <a:endParaRPr lang="ko-KR" altLang="en-US" sz="1200" b="1" dirty="0">
              <a:solidFill>
                <a:srgbClr val="0000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12192000" cy="549275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10"/>
          <p:cNvSpPr>
            <a:spLocks noChangeArrowheads="1"/>
          </p:cNvSpPr>
          <p:nvPr userDrawn="1"/>
        </p:nvSpPr>
        <p:spPr bwMode="auto">
          <a:xfrm>
            <a:off x="10968588" y="1"/>
            <a:ext cx="12234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sz="1400" b="1" dirty="0">
                <a:solidFill>
                  <a:srgbClr val="000066"/>
                </a:solidFill>
                <a:effectLst>
                  <a:outerShdw blurRad="50800" dist="38100" dir="3000000" algn="tl" rotWithShape="0">
                    <a:srgbClr val="0000FF">
                      <a:alpha val="41000"/>
                    </a:srgbClr>
                  </a:outerShdw>
                </a:effectLst>
              </a:rPr>
              <a:t>Confidential</a:t>
            </a:r>
            <a:endParaRPr lang="ko-KR" altLang="en-US" sz="1400" b="1" dirty="0">
              <a:solidFill>
                <a:srgbClr val="000066"/>
              </a:solidFill>
              <a:effectLst>
                <a:outerShdw blurRad="50800" dist="38100" dir="3000000" algn="tl" rotWithShape="0">
                  <a:srgbClr val="0000FF">
                    <a:alpha val="41000"/>
                  </a:srgbClr>
                </a:outerShdw>
              </a:effectLst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843454" y="6597651"/>
            <a:ext cx="11348546" cy="0"/>
          </a:xfrm>
          <a:prstGeom prst="line">
            <a:avLst/>
          </a:prstGeom>
          <a:ln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77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98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95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91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89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69888" indent="-369888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07975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366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19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272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4134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431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729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10026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98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95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91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89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86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08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377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359407" y="6106852"/>
            <a:ext cx="1091967" cy="240066"/>
          </a:xfrm>
          <a:prstGeom prst="rect">
            <a:avLst/>
          </a:prstGeom>
          <a:noFill/>
        </p:spPr>
        <p:txBody>
          <a:bodyPr wrap="square" lIns="27432" tIns="27432" rIns="27432" bIns="27432" rtlCol="0" anchor="ctr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F172A"/>
                </a:solidFill>
                <a:latin typeface="Noto Sans KR"/>
              </a:rPr>
              <a:t>2026. 10. 04</a:t>
            </a:r>
            <a:endParaRPr sz="1200" b="1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51075" y="3484966"/>
            <a:ext cx="4462810" cy="504056"/>
          </a:xfrm>
        </p:spPr>
        <p:txBody>
          <a:bodyPr wrap="square" lIns="27432" tIns="27432" rIns="27432" bIns="27432" anchor="ctr"/>
          <a:lstStyle/>
          <a:p>
            <a:r>
              <a:rPr sz="3200"/>
              <a:t>RAMOS AI-QMS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8334" y="5800514"/>
            <a:ext cx="954107" cy="240066"/>
          </a:xfrm>
          <a:prstGeom prst="rect">
            <a:avLst/>
          </a:prstGeom>
          <a:noFill/>
        </p:spPr>
        <p:txBody>
          <a:bodyPr wrap="square" lIns="27432" tIns="27432" rIns="27432" bIns="27432" rtlCol="0" anchor="ctr">
            <a:spAutoFit/>
          </a:bodyPr>
          <a:lstStyle/>
          <a:p>
            <a:pPr algn="ctr"/>
            <a:r>
              <a:rPr sz="1200" b="1" dirty="0" err="1">
                <a:latin typeface="Noto Sans KR"/>
              </a:rPr>
              <a:t>품질혁신팀</a:t>
            </a:r>
            <a:endParaRPr sz="1200" b="1" dirty="0">
              <a:latin typeface="Noto Sans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0" y="2788920"/>
            <a:ext cx="53035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3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 부적합 · 외주 품질 · 내부 품질을 한 곳에서</a:t>
            </a:r>
          </a:p>
        </p:txBody>
      </p:sp>
    </p:spTree>
    <p:extLst>
      <p:ext uri="{BB962C8B-B14F-4D97-AF65-F5344CB8AC3E}">
        <p14:creationId xmlns:p14="http://schemas.microsoft.com/office/powerpoint/2010/main" val="3202315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776" y="18968"/>
            <a:ext cx="9712087" cy="504056"/>
          </a:xfrm>
        </p:spPr>
        <p:txBody>
          <a:bodyPr/>
          <a:lstStyle/>
          <a:p>
            <a:r>
              <a:t> Content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1005840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77440" y="1188720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170432"/>
            <a:ext cx="69037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무엇을 만들었나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664208"/>
            <a:ext cx="7406640" cy="640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852160" y="1225296"/>
            <a:ext cx="393192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세 가지 품질 업무와 운영 원칙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029968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77440" y="2212848"/>
            <a:ext cx="384048" cy="384048"/>
          </a:xfrm>
          <a:prstGeom prst="ellipse">
            <a:avLst/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194560"/>
            <a:ext cx="69037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고객 부적합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688336"/>
            <a:ext cx="7406640" cy="640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852160" y="2249424"/>
            <a:ext cx="393192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접수부터 8D 종결까지, 단계별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3054096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77440" y="3236976"/>
            <a:ext cx="384048" cy="38404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218688"/>
            <a:ext cx="69037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외주 품질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712464"/>
            <a:ext cx="7406640" cy="640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852160" y="3273552"/>
            <a:ext cx="393192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PCN·Issue 접수, 부적합 통보, 현황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4078224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77440" y="4261104"/>
            <a:ext cx="384048" cy="384048"/>
          </a:xfrm>
          <a:prstGeom prst="ellips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242816"/>
            <a:ext cx="69037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E7B45"/>
                </a:solidFill>
                <a:latin typeface="맑은 고딕"/>
                <a:ea typeface="맑은 고딕"/>
                <a:cs typeface="맑은 고딕"/>
              </a:rPr>
              <a:t>내부 품질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736592"/>
            <a:ext cx="7406640" cy="640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852160" y="4297680"/>
            <a:ext cx="393192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내부 Issue·부적합, 내부 PCN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5102352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77440" y="5285232"/>
            <a:ext cx="384048" cy="384048"/>
          </a:xfrm>
          <a:prstGeom prst="ellipse">
            <a:avLst/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266944"/>
            <a:ext cx="69037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AI 활용과 사용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760720"/>
            <a:ext cx="7406640" cy="640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852160" y="5321808"/>
            <a:ext cx="393192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AI가 돕는 곳, 역할별 사용법, 시연</a:t>
            </a:r>
          </a:p>
        </p:txBody>
      </p:sp>
    </p:spTree>
    <p:extLst>
      <p:ext uri="{BB962C8B-B14F-4D97-AF65-F5344CB8AC3E}">
        <p14:creationId xmlns:p14="http://schemas.microsoft.com/office/powerpoint/2010/main" val="396496295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세 가지 품질 업무를 한 시스템에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860804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무엇을 만들었나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639312" cy="36576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2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고객 부적합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3200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접수 → 8D(D1~D8) → 종결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320040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고객 메일로 접수, 품질 검토 후 8D Case 생성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단계별 3인 결재와 기한 감시·알림 메일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D4~D8 단계마다 AI 도우미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234440"/>
            <a:ext cx="3639312" cy="365760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417320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2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외주 품질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938528"/>
            <a:ext cx="3200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TechL · WinPAC · CTST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468880"/>
            <a:ext cx="320040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외주사가 직접 PCN·Issue 접수 → 사내 심의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라모스 → 외주사 부적합 통보·회신·종결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외주사별 품질 현황 집계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234440"/>
            <a:ext cx="3639312" cy="365760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1417320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200" b="1" i="0">
                <a:solidFill>
                  <a:srgbClr val="1E7B45"/>
                </a:solidFill>
                <a:latin typeface="맑은 고딕"/>
                <a:ea typeface="맑은 고딕"/>
                <a:cs typeface="맑은 고딕"/>
              </a:rPr>
              <a:t>내부 품질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1938528"/>
            <a:ext cx="3200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사내 Issue · 사내 PCN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2468880"/>
            <a:ext cx="320040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내부 Issue·부적합: 접수 → 검토 → 조치 → 종결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내부 PCN: 접수 → 검토 → 승인 → 적용 완료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원본 근거와 처리 이력 보관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20640"/>
            <a:ext cx="11274552" cy="1051560"/>
          </a:xfrm>
          <a:prstGeom prst="roundRect">
            <a:avLst>
              <a:gd name="adj" fmla="val 6000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75504"/>
            <a:ext cx="210312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공통 기반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175504"/>
            <a:ext cx="210312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로그인·역할 권한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5175504"/>
            <a:ext cx="210312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근거 원본 보관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5175504"/>
            <a:ext cx="210312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처리 이력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5175504"/>
            <a:ext cx="210312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고객 8D Case 연결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흩어진 품질 업무를 한 흐름으로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만들었나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532120" cy="22860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44751"/>
            <a:ext cx="51663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0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고객 대응이 한 사람에게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5166359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접수 연락이 간사에게 몰리고, 3D 24시간 같은 기한을 사람이 기억해서 챙김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532120" cy="22860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44751"/>
            <a:ext cx="51663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0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근거가 여기저기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38528"/>
            <a:ext cx="5166359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메일·엑셀·폴더에 나뉘어 보고서를 쓸 때마다 다시 모음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94760"/>
            <a:ext cx="5532120" cy="228600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59352"/>
            <a:ext cx="51663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0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외주사 자료는 메일로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53128"/>
            <a:ext cx="5166359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생산이 전부 외주라 PCN·불량 자료를 메일로 주고받고, 진행 상태가 한눈에 안 보임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94760"/>
            <a:ext cx="5532120" cy="228600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59352"/>
            <a:ext cx="51663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000" b="1" i="0">
                <a:solidFill>
                  <a:srgbClr val="1E7B45"/>
                </a:solidFill>
                <a:latin typeface="맑은 고딕"/>
                <a:ea typeface="맑은 고딕"/>
                <a:cs typeface="맑은 고딕"/>
              </a:rPr>
              <a:t>사내 변경·이슈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53128"/>
            <a:ext cx="5166359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내부 PCN·Issue를 누가 언제 승인·적용했는지 이력이 남지 않음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AI는 제안하고, 결정은 사람이 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955548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원칙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532120" cy="356616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44751"/>
            <a:ext cx="51663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0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AI가 하는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5166359" cy="2788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메일·PDF에서 항목 추출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품질도구·대책·시험 계획 추천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성적서에서 값 읽기 (찾은 위치 표시)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일관성 검토, 종결 문안 초안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280160"/>
            <a:ext cx="5532120" cy="356616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44751"/>
            <a:ext cx="51663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000" b="1" i="0">
                <a:solidFill>
                  <a:srgbClr val="B42318"/>
                </a:solidFill>
                <a:latin typeface="맑은 고딕"/>
                <a:ea typeface="맑은 고딕"/>
                <a:cs typeface="맑은 고딕"/>
              </a:rPr>
              <a:t>AI가 하지 않는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938528"/>
            <a:ext cx="5166359" cy="2788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원인 확정, 승인, 합격 판정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측정값·수량 만들기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담당자·날짜·문서번호 지정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고객·외주사에 직접 송부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74920"/>
            <a:ext cx="5532120" cy="77724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138928"/>
            <a:ext cx="51206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결재·승인  ·  실제 로그인 계정으로 서버에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5074920"/>
            <a:ext cx="5532120" cy="77724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5138928"/>
            <a:ext cx="51206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숫자  ·  통계 공식 또는 업로드한 원본에서만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고객 부적합 관리 — 접수부터 종결까지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764792" cy="16916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08176"/>
            <a:ext cx="14904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19072"/>
            <a:ext cx="149047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149047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메일·PDF → AI 추출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1280160"/>
            <a:ext cx="1764792" cy="16916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312" y="1408176"/>
            <a:ext cx="14904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1719072"/>
            <a:ext cx="149047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품질 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2240280"/>
            <a:ext cx="149047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8D 발행 판정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4" y="1280160"/>
            <a:ext cx="1764792" cy="16916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408176"/>
            <a:ext cx="14904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1719072"/>
            <a:ext cx="149047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D1 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2240280"/>
            <a:ext cx="149047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조직도 추천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80160"/>
            <a:ext cx="1764792" cy="16916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408176"/>
            <a:ext cx="14904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1719072"/>
            <a:ext cx="149047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D2 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240280"/>
            <a:ext cx="149047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5W2H·IS/IS NOT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280160"/>
            <a:ext cx="1764792" cy="16916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1408176"/>
            <a:ext cx="14904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1719072"/>
            <a:ext cx="149047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D3 봉쇄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2240280"/>
            <a:ext cx="149047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재고·7개 영역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1280160"/>
            <a:ext cx="1764792" cy="16916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1408176"/>
            <a:ext cx="14904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1719072"/>
            <a:ext cx="149047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D4 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240280"/>
            <a:ext cx="149047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AI 도구 추천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154680"/>
            <a:ext cx="2145182" cy="169164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282696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593592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D5 대책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114800"/>
            <a:ext cx="187086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AI 대책 후보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39542" y="3154680"/>
            <a:ext cx="2145182" cy="169164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6702" y="3282696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76702" y="3593592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D6 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76702" y="4114800"/>
            <a:ext cx="187086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공식·AI 성적서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1884" y="3154680"/>
            <a:ext cx="2145182" cy="169164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59044" y="3282696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9044" y="3593592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D7 재발방지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59044" y="4114800"/>
            <a:ext cx="187086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AI 개정·수평전개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04227" y="3154680"/>
            <a:ext cx="2145182" cy="169164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1387" y="3282696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41387" y="3593592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D8 종결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41387" y="4114800"/>
            <a:ext cx="187086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점검·AI 문안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86569" y="3154680"/>
            <a:ext cx="2145182" cy="169164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23729" y="3282696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23729" y="3593592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23729" y="4114800"/>
            <a:ext cx="187086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30·60·90일 확인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166360"/>
            <a:ext cx="3639312" cy="86868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230368"/>
            <a:ext cx="32918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결재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단계마다 간사 기안 → 리더 → 챔피언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79392" y="5166360"/>
            <a:ext cx="3639312" cy="86868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5230368"/>
            <a:ext cx="32918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3D 24시간 · 5D 14일 · 8D 30일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01583" y="5166360"/>
            <a:ext cx="3639312" cy="86868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84463" y="5230368"/>
            <a:ext cx="32918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보라색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 도우미가 있는 단계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접수와 D1 팀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559052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408176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항목 추출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885431" cy="3886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고객 메일·PDF를 올리면 AI가 항목을 뽑아 채움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품질혁신팀·전략소싱·영업 누구나 등록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품질 검토 승인 → Case 자동 생성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D1: 조직도로 역할 추천 → 확정하면 팀원에게 공유 메일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715000"/>
            <a:ext cx="6885431" cy="45720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769864"/>
            <a:ext cx="6611112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사람이 하는 것  ·  추출 내용 확인, 팀 확정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08392" y="1188720"/>
            <a:ext cx="4023360" cy="498348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1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098" y="1261872"/>
            <a:ext cx="3517946" cy="4837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기한 감시와 알림 메일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559052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828800" cy="11430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5544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3D 봉쇄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5544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6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24시간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280160"/>
            <a:ext cx="1828800" cy="11430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371600"/>
            <a:ext cx="15544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5D 원인·대책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91640"/>
            <a:ext cx="15544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6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14일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1828800" cy="11430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71600"/>
            <a:ext cx="15544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8D 종결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691640"/>
            <a:ext cx="15544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6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30일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5760720" cy="2834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주의 → 임박 → 초과, 단계마다 메일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초과는 해소될 때까지 매일 1회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D1 팀 확정 시 부적합 공유 메일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평가 기간: 모든 메일은 시험 수신자 1명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715000"/>
            <a:ext cx="5760720" cy="45720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769864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사람이 하는 것  ·  알림을 받고 해당 단계 처리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188720"/>
            <a:ext cx="2514600" cy="498348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il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056485"/>
            <a:ext cx="2368296" cy="324794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217152" y="1188720"/>
            <a:ext cx="2514600" cy="498348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ail_s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1988820"/>
            <a:ext cx="2368296" cy="33832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D2 문제 정의 · D3 봉쇄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559052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885431" cy="4343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D2: 5W2H, IS/IS NOT — 행마다 '사실 확인', 근거 파일 필수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D3: ERP(RAK4·RAK5)·MES Excel 가져오기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7개 영역 재고와 봉쇄 유효성 3항목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715000"/>
            <a:ext cx="6885431" cy="45720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769864"/>
            <a:ext cx="6611112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사람이 하는 것  ·  사실 확인, 재고·조치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08392" y="1188720"/>
            <a:ext cx="4023360" cy="498348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3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467" y="1261872"/>
            <a:ext cx="2873209" cy="48371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D4 원인 분석 — AI 품질도구 추천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559052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955548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7068311" cy="3886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AI가 Case를 읽고 특성 5가지를 이유와 함께 분류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도구 25개 중 필수 5개 + 추천 최대 4개, 쓰는 순서까지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도구마다 왜 · 확인할 질문 · 필요 자료 · 자료 가진 곳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적용하면 작업대에 빈칸으로 들어감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715000"/>
            <a:ext cx="7068311" cy="45720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769864"/>
            <a:ext cx="6793991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사람이 하는 것  ·  시험과 증거로 원인 입증·확정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91271" y="1188720"/>
            <a:ext cx="3840480" cy="498348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4_adv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135" y="1261872"/>
            <a:ext cx="3504753" cy="4837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D5 대책 — AI 대책 후보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559052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955548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7068311" cy="3886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D4에서 확정된 원인에만 후보 제시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강도: 원인 제거 → 실수 방지 → 검출 강화 → 교육·표준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적용 위치(외주사·사내), 변경 4M, 고객 PCN 가능성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교육뿐인 약한 대책은 시스템이 경고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715000"/>
            <a:ext cx="7068311" cy="45720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769864"/>
            <a:ext cx="6793991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사람이 하는 것  ·  대책 선정, 담당·일정·비용 결정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91271" y="1188720"/>
            <a:ext cx="3840480" cy="498348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5_adv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658" y="1261872"/>
            <a:ext cx="3411707" cy="48371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D6 검증 — 공식과 성적서 읽기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559052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760720" cy="96012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949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① 시료 수 계산 · 공식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5394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3,000 PPM 기준, 불량 0개로 767개 통과 시 개선을 말할 수 있음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59152"/>
            <a:ext cx="5760720" cy="96012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53949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② 시험 계획 ·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98064"/>
            <a:ext cx="5394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선정 대책마다 시험 방법·조건·합격 기준 제안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38144"/>
            <a:ext cx="5760720" cy="96012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29584"/>
            <a:ext cx="53949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③ 성적서 읽기 · AI + 규칙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77056"/>
            <a:ext cx="5394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양식을 등록하면 PDF에서 값과 위치를 읽고, PASS/FAIL은 규칙으로 제안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17136"/>
            <a:ext cx="5760720" cy="96012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08575"/>
            <a:ext cx="53949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④ 전·후 비교 · 해제 점검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394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신뢰 상한으로 판정, 조건이 안 되면 봉쇄 해제를 차단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715000"/>
            <a:ext cx="5760720" cy="45720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769864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사람이 하는 것  ·  판정 선택, 봉쇄 해제 결정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188720"/>
            <a:ext cx="5148072" cy="498348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6_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369" y="1261872"/>
            <a:ext cx="4908693" cy="48371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D7 재발방지 · D8 종결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559052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5321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0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D7 재발방지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53212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개정할 문서 · PFMEA 행 초안 · 전파 대상 추천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등록한 제품 목록으로 수평전개 판단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교훈 저장 → 다음 Case 대책 추천에 반영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5532120" cy="288036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7_ass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850" y="3364992"/>
            <a:ext cx="1894819" cy="27340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99632" y="1234440"/>
            <a:ext cx="55321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0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D8 종결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1691640"/>
            <a:ext cx="553212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종결 점검, 처리 기간, AI 일관성 검토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잔여 위험 · 고객 요약(한·영) · 팀 인정 초안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간사 기안 → 리더 → 챔피언 결재로 종결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291840"/>
            <a:ext cx="5532120" cy="288036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8_ass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052" y="3364991"/>
            <a:ext cx="2075278" cy="27340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외주 품질 관리 — 한눈에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860804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외주 품질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937760" cy="1078992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외주사 → 라모스 · PCN·Issue 접수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572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외주사가 자기 계정으로 변경(PCN)·불량(Issue)을 접수, 사내에서 심의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96312"/>
            <a:ext cx="4937760" cy="1078992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87752"/>
            <a:ext cx="4572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라모스 → 외주사 · 부적합 통보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53512"/>
            <a:ext cx="4572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통보 등록 → 외주사에 공개 → 회신 → 검토 → 종결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12464"/>
            <a:ext cx="4937760" cy="1078992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03904"/>
            <a:ext cx="4572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외주사 품질 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9664"/>
            <a:ext cx="4572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업체별 접수·심의 대기·통보 회신·기한 초과를 한 화면에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28616"/>
            <a:ext cx="4937760" cy="1078992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20056"/>
            <a:ext cx="4572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8D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85816"/>
            <a:ext cx="4572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외주 접수를 고객 Case에 연결해 D3 봉쇄·D4 분석·D5 PCN으로 가져오기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188720"/>
            <a:ext cx="6016752" cy="498348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upplier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1403131"/>
            <a:ext cx="5870448" cy="45546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외주사 PCN·Issue 접수와 심의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408176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외주 품질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56631" cy="4343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외주사 계정으로 접수: 변경 전후 대조표, 샘플·양산 예정일, 원본 첨부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Issue는 발생 공정·초동 조치·격리 수량까지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사내 심의: 승인 · 반려 · 보완 요청 (이력 보관)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제출 누락 점검: 빠진 항목을 자동 표시 (규칙)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715000"/>
            <a:ext cx="5056631" cy="45720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769864"/>
            <a:ext cx="4782312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사람이 하는 것  ·  심의 판정, 8D 연결 여부 결정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9592" y="1188720"/>
            <a:ext cx="5852160" cy="498348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pplier-p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1466981"/>
            <a:ext cx="5705856" cy="44269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부적합 통보와 회신 (라모스 → 외주사)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408176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외주 품질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145182" cy="132588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1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187086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통보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29968"/>
            <a:ext cx="1870862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현상·Lot·요청 사항·회신 기한·근거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9542" y="1280160"/>
            <a:ext cx="2145182" cy="132588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6702" y="1371600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1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6702" y="1645920"/>
            <a:ext cx="187086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외주사에 공개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6702" y="2029968"/>
            <a:ext cx="1870862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해당 업체 수신함에 게시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1884" y="1280160"/>
            <a:ext cx="2145182" cy="132588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9044" y="1371600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1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9044" y="1645920"/>
            <a:ext cx="187086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외주사 회신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9044" y="2029968"/>
            <a:ext cx="1870862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조치·분석 자료 첨부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4227" y="1280160"/>
            <a:ext cx="2145182" cy="132588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1387" y="1371600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1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1387" y="1645920"/>
            <a:ext cx="187086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검토·추가 요청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1387" y="2029968"/>
            <a:ext cx="1870862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부족하면 추가 회신 요청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86569" y="1280160"/>
            <a:ext cx="2145182" cy="132588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3729" y="1371600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1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3729" y="1645920"/>
            <a:ext cx="187086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검증 확인·종결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3729" y="2029968"/>
            <a:ext cx="1870862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검증 내용과 근거 필수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80360"/>
            <a:ext cx="4846320" cy="2651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외주사는 자기 업체 통보만 보고 회신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메일·회의로 받은 회신도 사내 담당자가 출처와 함께 기록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회신 기한 초과 표시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71500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769864"/>
            <a:ext cx="45720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사람이 하는 것  ·  공개·검토·종결 판단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2788920"/>
            <a:ext cx="6062472" cy="338328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upplier-not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464" y="2862072"/>
            <a:ext cx="4172102" cy="32369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내부 Issue·부적합 관리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860804" cy="274320"/>
          </a:xfrm>
          <a:prstGeom prst="roundRect">
            <a:avLst>
              <a:gd name="adj" fmla="val 5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내부 품질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56631" cy="4343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사내 공정·검사·재고에서 생긴 Issue와 부적합 등록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발생 일시·현상·공정·수량·봉쇄·주관 부서·담당·기한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접수 → 검토 중 → 조치 중 → 종결 (반려·재검토 경로)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필요하면 고객 8D Case에 연결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715000"/>
            <a:ext cx="5056631" cy="45720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769864"/>
            <a:ext cx="4782312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사람이 하는 것  ·  검토·조치 판단, 종결 승인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9592" y="1188720"/>
            <a:ext cx="5852160" cy="498348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ternal-iss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1466981"/>
            <a:ext cx="5705856" cy="44269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내부 PCN 변경 관리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860804" cy="274320"/>
          </a:xfrm>
          <a:prstGeom prst="roundRect">
            <a:avLst>
              <a:gd name="adj" fmla="val 5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내부 품질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56631" cy="4343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4M 구분, 변경 전·후, 사유, 검증 계획, 적용 예정일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고객 통보 필요 여부 검토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접수 → 검토 중 → 승인 → 적용 완료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승인 시 적용 담당, 적용 완료 시 실제 적용일 기록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715000"/>
            <a:ext cx="5056631" cy="45720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769864"/>
            <a:ext cx="4782312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사람이 하는 것  ·  승인, 실제 적용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9592" y="1188720"/>
            <a:ext cx="5852160" cy="498348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ternal-p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1466981"/>
            <a:ext cx="5705856" cy="44269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AI가 돕는 곳 한눈에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408176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AI 활용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455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928"/>
                <a:gridCol w="8117677"/>
                <a:gridCol w="1352946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AI가 하는 일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 부적합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항목 추출 · D4 도구 추천 · D5 대책 후보 · D6 시험 계획과 성적서 읽기 · D7 개정·수평전개·교훈 · D8 일관성 검토와 문안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 품질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8D에 연결하면 위 AI를 그대로 활용 · 제출 누락 점검은 규칙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 품질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 회신 자료 요약, PCN 위험도 판단 보조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B423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아이디어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품질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유사 Issue 찾기, 8D 전환 필요 여부 제안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B423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아이디어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349240"/>
            <a:ext cx="5532120" cy="68580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413248"/>
            <a:ext cx="5120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같은 원칙  ·  AI는 제안, 결정·승인은 사람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5349240"/>
            <a:ext cx="5532120" cy="68580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5413248"/>
            <a:ext cx="5120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사용 AI  ·  Gemini (실패 시 Groq)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역할별 사용 방법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408176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사용 방법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39312" cy="22860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44751"/>
            <a:ext cx="327355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9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고객 접수자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3273552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고객 메일 → STEP 01에 파일 올리기 → AI 추출 확인 → 등록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280160"/>
            <a:ext cx="3639312" cy="228600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444751"/>
            <a:ext cx="327355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9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간사 (품질 실무)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1938528"/>
            <a:ext cx="3273552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매일 SLA 확인 → 단계별 AI 추천 → 자료 정리 → 기안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280160"/>
            <a:ext cx="3639312" cy="228600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3" y="1444751"/>
            <a:ext cx="327355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900" b="1" i="0">
                <a:solidFill>
                  <a:srgbClr val="1E7B45"/>
                </a:solidFill>
                <a:latin typeface="맑은 고딕"/>
                <a:ea typeface="맑은 고딕"/>
                <a:cs typeface="맑은 고딕"/>
              </a:rPr>
              <a:t>리더 · 챔피언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3" y="1938528"/>
            <a:ext cx="3273552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결재 알림 → 검토서 열람 → 승인 또는 보완 의견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94760"/>
            <a:ext cx="3639312" cy="228600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59352"/>
            <a:ext cx="327355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9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외주사 담당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53128"/>
            <a:ext cx="3273552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자기 계정으로 PCN·Issue 접수, 통보 확인·회신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3794760"/>
            <a:ext cx="3639312" cy="228600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3959352"/>
            <a:ext cx="327355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9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SQE · 품질 검토자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453128"/>
            <a:ext cx="3273552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외주 접수 심의, 부적합 통보 공개·검토·종결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94760"/>
            <a:ext cx="3639312" cy="228600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3" y="3959352"/>
            <a:ext cx="327355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900" b="1" i="0">
                <a:solidFill>
                  <a:srgbClr val="1E7B45"/>
                </a:solidFill>
                <a:latin typeface="맑은 고딕"/>
                <a:ea typeface="맑은 고딕"/>
                <a:cs typeface="맑은 고딕"/>
              </a:rPr>
              <a:t>사내 부서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4453128"/>
            <a:ext cx="3273552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내부 Issue·PCN 등록 → 검토·조치 → 종결·적용 완료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시연 — LG전자 eMMC, SMT 후 부팅 불가 (11분)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955548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시연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1298448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시나리오 (검증용 가상 자료)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32004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불량 3 / 1,000 ea · 원인 리플로우 온도 · 외주 TechL·CTST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3566160" cy="1298448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52928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볼 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18688"/>
            <a:ext cx="32004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AI가 제안 → 사람이 확인 → 결재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3566160" cy="1298448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15968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B42318"/>
                </a:solidFill>
                <a:latin typeface="맑은 고딕"/>
                <a:ea typeface="맑은 고딕"/>
                <a:cs typeface="맑은 고딕"/>
              </a:rPr>
              <a:t>백업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81727"/>
            <a:ext cx="32004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 응답 지연 시 단계별 캡처로 진행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0" y="1280160"/>
          <a:ext cx="743407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429"/>
                <a:gridCol w="1412473"/>
                <a:gridCol w="5055168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보여 줄 것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0:00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 접수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 메일 PDF → AI 추출 → 등록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1:30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D4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도구 추천 → 작업대 적용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3:00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원인별 대책 후보 · PCN 표시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4:30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D6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성적서 PDF → AI가 800/0 읽기 → 전·후 비교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6:30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종결 점검 → 챔피언 승인으로 종결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8:00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 품질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 PCN 접수 → 심의 → 8D 연결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9:30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품질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PCN 등록 → 승인 → 적용 완료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정리 — 세 가지 품질 업무, 한 시스템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39312" cy="265176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4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고객 부적합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10896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8D 전 과정, 기한 알림, D4~D8 AI 도우미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371600"/>
            <a:ext cx="3639312" cy="265176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00200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4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외주 품질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2286000"/>
            <a:ext cx="310896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외주사 직접 접수, 부적합 통보·회신, 업체별 현황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371600"/>
            <a:ext cx="3639312" cy="265176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1600200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400" b="1" i="0">
                <a:solidFill>
                  <a:srgbClr val="1E7B45"/>
                </a:solidFill>
                <a:latin typeface="맑은 고딕"/>
                <a:ea typeface="맑은 고딕"/>
                <a:cs typeface="맑은 고딕"/>
              </a:rPr>
              <a:t>내부 품질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904" y="2286000"/>
            <a:ext cx="310896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내부 Issue·PCN의 승인·적용 이력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80"/>
            <a:ext cx="11274552" cy="146304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1280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AI는 제안하고, 결정은 사람이 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부록 A1 · 화면 지도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455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5311"/>
                <a:gridCol w="1803928"/>
                <a:gridCol w="4735311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하는 일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STEP 01 · STEP 02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 부적합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등록, 품질 검토와 Case 생성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D1 ~ D8 · SLA 관제 · 8D 리포트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 부적합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작성·결재, 기한 현황, 보고서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 품질 현황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 품질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업체별 집계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PCN 변경 관리 · Issue-부적합 관리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 품질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 접수와 사내 심의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부적합 통보 관리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 품질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라모스 → 외주사 통보·회신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Issue·부적합 관리 · 내부 PCN 변경 관리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품질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기록과 승인·적용 이력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 Operations · RAmos 조직도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실행 기록·알림 메일 설정, 팀원 지정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부록 A2 · 간사의 8D 단계별 순서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4551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455"/>
                <a:gridCol w="7328458"/>
                <a:gridCol w="281863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화면에서 할 일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버튼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5W2H·IS/IS NOT 작성, 근거 파일 첨부, 사실 확인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→ 기안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D3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ERP·MES Excel 가져오기, 7개 영역, 봉쇄조치, 유효성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D3 봉쇄 승인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도구 추천 → 적용 → 도구별 Evidence → 원인 3종 확정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D4 근본원인 승인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D5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대책 후보 → 추가 → 선정·담당·일정·PCN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 → 기안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시료 수·시험 계획 → 성적서 읽기 → 판정 → 전·후 비교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 → 기안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D7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개정·PFMEA 추천 → 수평전개 → 교훈 저장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 → 기안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종결 점검 → 일관성 검토 → 초안 → 점검표 확인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기안 → 리더 → 챔피언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부록 A3 · AI 기능별 입력·출력·안전장치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4551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455"/>
                <a:gridCol w="5073548"/>
                <a:gridCol w="507354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출력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안전장치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메일·PDF에서 항목 추출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사람이 확인 후 등록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D4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Case 특성, 도구 순서·이유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미작성, 목록 밖 도구 제거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원인별 대책 후보, 강도, PCN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원인만, 약한 대책 경고, '선정 안 됨'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D6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계획, 성적서 값·위치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수량은 공식·성적서, 판정은 규칙 제안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개정 문서, PFMEA 초안, 수평전개, 교훈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기록된 제품만, 점수·번호 미작성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D8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일관성 지적, 종결 문안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판정 안 함, 사람이 칸에 넣기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부록 A4 · 알림 메일 규칙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455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2365"/>
                <a:gridCol w="5186293"/>
                <a:gridCol w="270589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메일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언제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부적합 공유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D1 팀 확정 시, 팀원에게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 구성이 바뀔 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주의 · 임박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기한 50% 경과, 임박 시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번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초과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기한을 넘겼을 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매일 1회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재발 확인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종결 후 30·60·90일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항목당 한 번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메일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화면에서 수동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부록 A5 · 데이터와 기록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455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8455914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서버의 데이터베이스에 기록과 원본 파일 보관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등록·변경·결재·삭제·AI 사용·메일 발송을 모두 기록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 계정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자기 업체 건만 조회·등록·회신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AI에 보내는 것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고객사명·제품·품번·Lot·불량 현상, 확인된 사실, 확정 원인·선정 대책, 첨부 파일 이름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AI에 보내는 파일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추출과 D6 성적서 읽기 때 해당 파일만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삭제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관리자만, 사유 기록, 삭제 기록 보관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부록 A6 · 어떻게 확인했나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4551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2365"/>
                <a:gridCol w="7892186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테스트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154건 통과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흐름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시험용 DB에서 접수 → 종결 2회, 계정 3개로 실제 결재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AI 호출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D4~D8 결과 확인, 응답 5~7초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검증용 근거자료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136개 (GPT 생성, 자체 점검 214건 통과)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중 고친 문제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권한 누락, 성적서 양식 저장, 약어 표기, 종결 검토 오탐, 고객 수락 필수 문제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부록 A7 · 용어 정리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45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845591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용어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8단계 문제 해결 절차 (D1 팀 ~ D8 종결)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 · 5D · 8D 보고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봉쇄, 원인·대책, 종결 시점의 고객 보고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 / IS NOT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문제가 있는 곳과 비슷하지만 없는 곳을 비교해 범위를 좁히는 방법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봉쇄 (ICA)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확정 전 추가 유출을 막는 임시 조치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공정·자재 변경 통보와 승인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PFMEA · Control Plan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고장 모드 분석과 관리 계획서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수평전개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위험이 있는 다른 제품·공정에 대책을 넓히는 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SQE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 품질을 관리하는 사내 담당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7F48A6-5432-4C6E-B251-71BEC06773F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e6128c9-49d1-4c71-8a6e-d992475c6d6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261522</TotalTime>
  <Words>11</Words>
  <Application>Microsoft Office PowerPoint</Application>
  <PresentationFormat>와이드스크린</PresentationFormat>
  <Paragraphs>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Noto Sans KR</vt:lpstr>
      <vt:lpstr>굴림</vt:lpstr>
      <vt:lpstr>맑은 고딕</vt:lpstr>
      <vt:lpstr>Arial</vt:lpstr>
      <vt:lpstr>1_Office 테마</vt:lpstr>
      <vt:lpstr>디자인 사용자 지정</vt:lpstr>
      <vt:lpstr>2_Office 테마</vt:lpstr>
      <vt:lpstr>제목</vt:lpstr>
      <vt:lpstr> Content</vt:lpstr>
      <vt:lpstr> 본문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SAMSUNG</dc:creator>
  <cp:lastModifiedBy>QA_KIM</cp:lastModifiedBy>
  <cp:revision>6288</cp:revision>
  <cp:lastPrinted>2025-10-24T01:55:58Z</cp:lastPrinted>
  <dcterms:created xsi:type="dcterms:W3CDTF">2021-06-08T01:46:37Z</dcterms:created>
  <dcterms:modified xsi:type="dcterms:W3CDTF">2026-10-03T22:46:15Z</dcterms:modified>
</cp:coreProperties>
</file>