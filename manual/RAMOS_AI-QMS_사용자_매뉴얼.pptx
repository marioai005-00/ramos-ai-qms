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78" r:id="rId1"/>
    <p:sldMasterId id="2147483687" r:id="rId2"/>
    <p:sldMasterId id="2147483710" r:id="rId3"/>
  </p:sldMasterIdLst>
  <p:notesMasterIdLst>
    <p:notesMasterId r:id="rId7"/>
  </p:notesMasterIdLst>
  <p:sldIdLst>
    <p:sldId id="337" r:id="rId4"/>
    <p:sldId id="434" r:id="rId5"/>
    <p:sldId id="435" r:id="rId6"/>
    <p:sldId id="436" r:id="rId12"/>
    <p:sldId id="437" r:id="rId13"/>
    <p:sldId id="438" r:id="rId14"/>
    <p:sldId id="439" r:id="rId15"/>
    <p:sldId id="440" r:id="rId16"/>
    <p:sldId id="441" r:id="rId17"/>
    <p:sldId id="442" r:id="rId18"/>
    <p:sldId id="443" r:id="rId19"/>
    <p:sldId id="444" r:id="rId20"/>
    <p:sldId id="445" r:id="rId21"/>
    <p:sldId id="446" r:id="rId22"/>
    <p:sldId id="447" r:id="rId23"/>
    <p:sldId id="448" r:id="rId24"/>
    <p:sldId id="449" r:id="rId25"/>
    <p:sldId id="450" r:id="rId26"/>
    <p:sldId id="451" r:id="rId27"/>
    <p:sldId id="452" r:id="rId28"/>
    <p:sldId id="453" r:id="rId29"/>
    <p:sldId id="454" r:id="rId30"/>
    <p:sldId id="455" r:id="rId31"/>
    <p:sldId id="456" r:id="rId32"/>
    <p:sldId id="457" r:id="rId33"/>
    <p:sldId id="458" r:id="rId34"/>
    <p:sldId id="459" r:id="rId35"/>
    <p:sldId id="460" r:id="rId36"/>
    <p:sldId id="461" r:id="rId37"/>
    <p:sldId id="462" r:id="rId38"/>
    <p:sldId id="463" r:id="rId39"/>
    <p:sldId id="464" r:id="rId40"/>
    <p:sldId id="465" r:id="rId41"/>
    <p:sldId id="466" r:id="rId42"/>
    <p:sldId id="467" r:id="rId43"/>
    <p:sldId id="468" r:id="rId44"/>
    <p:sldId id="469" r:id="rId45"/>
    <p:sldId id="470" r:id="rId46"/>
    <p:sldId id="471" r:id="rId47"/>
    <p:sldId id="472" r:id="rId48"/>
    <p:sldId id="473" r:id="rId49"/>
    <p:sldId id="474" r:id="rId50"/>
    <p:sldId id="475" r:id="rId51"/>
    <p:sldId id="476" r:id="rId52"/>
    <p:sldId id="477" r:id="rId53"/>
    <p:sldId id="478" r:id="rId54"/>
    <p:sldId id="479" r:id="rId55"/>
  </p:sldIdLst>
  <p:sldSz cx="12192000" cy="6858000"/>
  <p:notesSz cx="6784975" cy="99187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B4FA6"/>
    <a:srgbClr val="F79646"/>
    <a:srgbClr val="5B9A34"/>
    <a:srgbClr val="2A9AB8"/>
    <a:srgbClr val="FFFFFF"/>
    <a:srgbClr val="EEF4FC"/>
    <a:srgbClr val="0B1C46"/>
    <a:srgbClr val="10253F"/>
    <a:srgbClr val="2337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755" autoAdjust="0"/>
    <p:restoredTop sz="96159" autoAdjust="0"/>
  </p:normalViewPr>
  <p:slideViewPr>
    <p:cSldViewPr snapToGrid="0">
      <p:cViewPr varScale="1">
        <p:scale>
          <a:sx n="114" d="100"/>
          <a:sy n="114" d="100"/>
        </p:scale>
        <p:origin x="660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210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9" y="8"/>
            <a:ext cx="2940155" cy="497658"/>
          </a:xfrm>
          <a:prstGeom prst="rect">
            <a:avLst/>
          </a:prstGeom>
        </p:spPr>
        <p:txBody>
          <a:bodyPr vert="horz" lIns="91804" tIns="45899" rIns="91804" bIns="4589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3253" y="8"/>
            <a:ext cx="2940155" cy="497658"/>
          </a:xfrm>
          <a:prstGeom prst="rect">
            <a:avLst/>
          </a:prstGeom>
        </p:spPr>
        <p:txBody>
          <a:bodyPr vert="horz" lIns="91804" tIns="45899" rIns="91804" bIns="45899" rtlCol="0"/>
          <a:lstStyle>
            <a:lvl1pPr algn="r">
              <a:defRPr sz="1200"/>
            </a:lvl1pPr>
          </a:lstStyle>
          <a:p>
            <a:fld id="{6301BAA2-AB58-4D04-B5A8-1F63BB17EC18}" type="datetimeFigureOut">
              <a:rPr lang="ko-KR" altLang="en-US" smtClean="0"/>
              <a:t>2026-10-04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5925" y="1238250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04" tIns="45899" rIns="91804" bIns="4589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498" y="4773383"/>
            <a:ext cx="5427980" cy="3905488"/>
          </a:xfrm>
          <a:prstGeom prst="rect">
            <a:avLst/>
          </a:prstGeom>
        </p:spPr>
        <p:txBody>
          <a:bodyPr vert="horz" lIns="91804" tIns="45899" rIns="91804" bIns="45899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9" y="9421043"/>
            <a:ext cx="2940155" cy="497657"/>
          </a:xfrm>
          <a:prstGeom prst="rect">
            <a:avLst/>
          </a:prstGeom>
        </p:spPr>
        <p:txBody>
          <a:bodyPr vert="horz" lIns="91804" tIns="45899" rIns="91804" bIns="4589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3253" y="9421043"/>
            <a:ext cx="2940155" cy="497657"/>
          </a:xfrm>
          <a:prstGeom prst="rect">
            <a:avLst/>
          </a:prstGeom>
        </p:spPr>
        <p:txBody>
          <a:bodyPr vert="horz" lIns="91804" tIns="45899" rIns="91804" bIns="45899" rtlCol="0" anchor="b"/>
          <a:lstStyle>
            <a:lvl1pPr algn="r">
              <a:defRPr sz="1200"/>
            </a:lvl1pPr>
          </a:lstStyle>
          <a:p>
            <a:fld id="{12B9E8AF-E9A7-4939-A0EB-7D7DDF7408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2274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415925" y="1238250"/>
            <a:ext cx="5953125" cy="33496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1401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 부적합은 접수 → 품질 검토 → D1~D8 순서로 진행합니다. 보라색은 AI 도우미가 있는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접수는 전략소싱팀, 영업팀, 품질혁신팀 소속이 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기한 규칙은 모든 고객에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 flipV="1">
            <a:off x="0" y="4769066"/>
            <a:ext cx="12192000" cy="20889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-5380"/>
            <a:ext cx="12198096" cy="4769069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7" name="제목 5"/>
          <p:cNvSpPr>
            <a:spLocks noGrp="1"/>
          </p:cNvSpPr>
          <p:nvPr>
            <p:ph type="title"/>
          </p:nvPr>
        </p:nvSpPr>
        <p:spPr>
          <a:xfrm>
            <a:off x="5379780" y="3543689"/>
            <a:ext cx="6288021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36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" name="직사각형 1"/>
          <p:cNvSpPr/>
          <p:nvPr userDrawn="1"/>
        </p:nvSpPr>
        <p:spPr>
          <a:xfrm>
            <a:off x="5379780" y="4174884"/>
            <a:ext cx="37896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uality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nnovation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</a:t>
            </a:r>
            <a:r>
              <a:rPr lang="en-US" altLang="ko-KR" sz="24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eam</a:t>
            </a:r>
            <a:endParaRPr lang="en-US" altLang="ko-KR" sz="2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009" y="6298324"/>
            <a:ext cx="1366247" cy="39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630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1122238" y="6618855"/>
            <a:ext cx="1067921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</a:t>
            </a:r>
            <a:r>
              <a:rPr lang="ko-KR" altLang="en-US" sz="900" b="1" dirty="0" smtClean="0">
                <a:solidFill>
                  <a:srgbClr val="002060"/>
                </a:solidFill>
                <a:ea typeface="맑은 고딕" panose="020B0503020000020004" pitchFamily="50" charset="-127"/>
              </a:rPr>
              <a:t>중</a:t>
            </a:r>
            <a:endParaRPr lang="ko-KR" altLang="en-US" sz="900" b="1" dirty="0">
              <a:solidFill>
                <a:srgbClr val="002060"/>
              </a:solidFill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7315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4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628581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127341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9895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158110" y="44624"/>
            <a:ext cx="9712087" cy="504056"/>
          </a:xfrm>
          <a:prstGeom prst="rect">
            <a:avLst/>
          </a:prstGeom>
        </p:spPr>
        <p:txBody>
          <a:bodyPr anchor="ctr"/>
          <a:lstStyle>
            <a:lvl1pPr algn="l">
              <a:defRPr kumimoji="1" lang="ko-KR" altLang="en-US" sz="2400" b="1" kern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7" name="TextBox 12"/>
          <p:cNvSpPr txBox="1">
            <a:spLocks noChangeArrowheads="1"/>
          </p:cNvSpPr>
          <p:nvPr userDrawn="1"/>
        </p:nvSpPr>
        <p:spPr bwMode="auto">
          <a:xfrm>
            <a:off x="10028100" y="6618855"/>
            <a:ext cx="2042547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/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작성자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/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발표자 </a:t>
            </a:r>
            <a:r>
              <a:rPr lang="en-US" altLang="ko-KR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: </a:t>
            </a:r>
            <a:r>
              <a:rPr lang="ko-KR" altLang="en-US" sz="900" b="1" dirty="0">
                <a:solidFill>
                  <a:srgbClr val="002060"/>
                </a:solidFill>
                <a:ea typeface="맑은 고딕" panose="020B0503020000020004" pitchFamily="50" charset="-127"/>
              </a:rPr>
              <a:t>김 성 중</a:t>
            </a:r>
          </a:p>
        </p:txBody>
      </p:sp>
    </p:spTree>
    <p:extLst>
      <p:ext uri="{BB962C8B-B14F-4D97-AF65-F5344CB8AC3E}">
        <p14:creationId xmlns:p14="http://schemas.microsoft.com/office/powerpoint/2010/main" val="205892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theme" Target="../theme/theme2.xml"/><Relationship Id="rId4" Type="http://schemas.openxmlformats.org/officeDocument/2006/relationships/image" Target="../media/image3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47" y="6582756"/>
            <a:ext cx="772507" cy="221495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893379" y="6597651"/>
            <a:ext cx="10405243" cy="260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fld id="{99AD7632-1104-4219-A49A-711D5A339A0F}" type="slidenum">
              <a:rPr lang="ko-KR" altLang="en-US" sz="1000" b="1" smtClean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ko-KR" altLang="en-US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 Total</a:t>
            </a:r>
            <a:endParaRPr lang="ko-KR" altLang="en-US" sz="1200" b="1" dirty="0">
              <a:solidFill>
                <a:srgbClr val="0000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12192000" cy="549275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843454" y="6597651"/>
            <a:ext cx="11348546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977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2" r:id="rId2"/>
    <p:sldLayoutId id="2147483697" r:id="rId3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98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9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91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8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69888" indent="-369888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0797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366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19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272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134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431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729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10026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98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95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91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89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86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08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377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 flipV="1">
            <a:off x="0" y="4769068"/>
            <a:ext cx="12198096" cy="2088932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8718080" y="3704373"/>
            <a:ext cx="28616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l"/>
            <a:r>
              <a:rPr lang="en-US" altLang="ko-KR" sz="54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000066"/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The End</a:t>
            </a:r>
          </a:p>
        </p:txBody>
      </p:sp>
      <p:sp>
        <p:nvSpPr>
          <p:cNvPr id="7" name="직사각형 6"/>
          <p:cNvSpPr/>
          <p:nvPr userDrawn="1"/>
        </p:nvSpPr>
        <p:spPr>
          <a:xfrm>
            <a:off x="8995977" y="4894910"/>
            <a:ext cx="269817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</a:t>
            </a:r>
            <a:r>
              <a:rPr lang="en-US" altLang="ko-KR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uality</a:t>
            </a:r>
            <a:r>
              <a:rPr lang="en-US" altLang="ko-KR" sz="2400" b="1" cap="none" spc="0" dirty="0">
                <a:ln w="0"/>
                <a:solidFill>
                  <a:srgbClr val="FFCC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</a:t>
            </a:r>
            <a:r>
              <a:rPr lang="en-US" altLang="ko-KR" sz="2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ssurance</a:t>
            </a:r>
            <a:endParaRPr lang="en-US" altLang="ko-KR" sz="20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60133" y="291663"/>
            <a:ext cx="1576550" cy="452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512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689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947" y="6582756"/>
            <a:ext cx="772507" cy="221495"/>
          </a:xfrm>
          <a:prstGeom prst="rect">
            <a:avLst/>
          </a:prstGeom>
        </p:spPr>
      </p:pic>
      <p:sp>
        <p:nvSpPr>
          <p:cNvPr id="7" name="직사각형 6"/>
          <p:cNvSpPr/>
          <p:nvPr userDrawn="1"/>
        </p:nvSpPr>
        <p:spPr>
          <a:xfrm>
            <a:off x="893379" y="6597651"/>
            <a:ext cx="10405243" cy="2603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fld id="{99AD7632-1104-4219-A49A-711D5A339A0F}" type="slidenum">
              <a:rPr lang="ko-KR" altLang="en-US" sz="1000" b="1" smtClean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r>
              <a:rPr lang="ko-KR" altLang="en-US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>
                <a:solidFill>
                  <a:srgbClr val="000066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/ Total</a:t>
            </a:r>
            <a:endParaRPr lang="ko-KR" altLang="en-US" sz="1200" b="1" dirty="0">
              <a:solidFill>
                <a:srgbClr val="000066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/>
          <p:cNvSpPr/>
          <p:nvPr userDrawn="1"/>
        </p:nvSpPr>
        <p:spPr>
          <a:xfrm>
            <a:off x="0" y="0"/>
            <a:ext cx="12192000" cy="549275"/>
          </a:xfrm>
          <a:prstGeom prst="rect">
            <a:avLst/>
          </a:prstGeom>
          <a:gradFill flip="none" rotWithShape="1">
            <a:gsLst>
              <a:gs pos="0">
                <a:srgbClr val="000066"/>
              </a:gs>
              <a:gs pos="79000">
                <a:schemeClr val="accent1">
                  <a:lumMod val="45000"/>
                  <a:lumOff val="55000"/>
                </a:schemeClr>
              </a:gs>
              <a:gs pos="80000">
                <a:schemeClr val="accent1">
                  <a:lumMod val="45000"/>
                  <a:lumOff val="55000"/>
                </a:schemeClr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10"/>
          <p:cNvSpPr>
            <a:spLocks noChangeArrowheads="1"/>
          </p:cNvSpPr>
          <p:nvPr userDrawn="1"/>
        </p:nvSpPr>
        <p:spPr bwMode="auto">
          <a:xfrm>
            <a:off x="10968588" y="1"/>
            <a:ext cx="122341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>
              <a:defRPr/>
            </a:pPr>
            <a:r>
              <a:rPr lang="en-US" altLang="ko-KR" sz="1400" b="1" dirty="0">
                <a:solidFill>
                  <a:srgbClr val="000066"/>
                </a:solidFill>
                <a:effectLst>
                  <a:outerShdw blurRad="50800" dist="38100" dir="3000000" algn="tl" rotWithShape="0">
                    <a:srgbClr val="0000FF">
                      <a:alpha val="41000"/>
                    </a:srgbClr>
                  </a:outerShdw>
                </a:effectLst>
              </a:rPr>
              <a:t>Confidential</a:t>
            </a:r>
            <a:endParaRPr lang="ko-KR" altLang="en-US" sz="1400" b="1" dirty="0">
              <a:solidFill>
                <a:srgbClr val="000066"/>
              </a:solidFill>
              <a:effectLst>
                <a:outerShdw blurRad="50800" dist="38100" dir="3000000" algn="tl" rotWithShape="0">
                  <a:srgbClr val="0000FF">
                    <a:alpha val="41000"/>
                  </a:srgbClr>
                </a:outerShdw>
              </a:effectLst>
            </a:endParaRPr>
          </a:p>
        </p:txBody>
      </p:sp>
      <p:cxnSp>
        <p:nvCxnSpPr>
          <p:cNvPr id="3" name="직선 연결선 2"/>
          <p:cNvCxnSpPr/>
          <p:nvPr userDrawn="1"/>
        </p:nvCxnSpPr>
        <p:spPr>
          <a:xfrm>
            <a:off x="843454" y="6597651"/>
            <a:ext cx="11348546" cy="0"/>
          </a:xfrm>
          <a:prstGeom prst="line">
            <a:avLst/>
          </a:prstGeom>
          <a:ln>
            <a:solidFill>
              <a:srgbClr val="0000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7773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hf hd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7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95298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90595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485891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981189" algn="ctr" rtl="0" fontAlgn="base" latinLnBrk="1">
        <a:spcBef>
          <a:spcPct val="0"/>
        </a:spcBef>
        <a:spcAft>
          <a:spcPct val="0"/>
        </a:spcAft>
        <a:defRPr sz="4767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69888" indent="-369888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07975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366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319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227263" indent="-24606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4134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6pPr>
      <a:lvl7pPr marL="3219431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7pPr>
      <a:lvl8pPr marL="3714729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8pPr>
      <a:lvl9pPr marL="4210026" indent="-247648" algn="l" defTabSz="990595" rtl="0" eaLnBrk="1" latinLnBrk="1" hangingPunct="1">
        <a:spcBef>
          <a:spcPct val="20000"/>
        </a:spcBef>
        <a:buFont typeface="Arial" pitchFamily="34" charset="0"/>
        <a:buChar char="•"/>
        <a:defRPr sz="21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98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95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91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89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86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7080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377" algn="l" defTabSz="990595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5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359407" y="6106852"/>
            <a:ext cx="1091967" cy="240066"/>
          </a:xfrm>
          <a:prstGeom prst="rect">
            <a:avLst/>
          </a:prstGeom>
          <a:noFill/>
        </p:spPr>
        <p:txBody>
          <a:bodyPr wrap="square" lIns="27432" tIns="27432" rIns="27432" bIns="27432" rtlCol="0" anchor="ctr">
            <a:spAutoFit/>
          </a:bodyPr>
          <a:lstStyle/>
          <a:p>
            <a:pPr algn="ctr"/>
            <a:r>
              <a:rPr lang="en-US" sz="1200" b="1" dirty="0" smtClean="0">
                <a:solidFill>
                  <a:srgbClr val="0F172A"/>
                </a:solidFill>
                <a:latin typeface="Noto Sans KR"/>
              </a:rPr>
              <a:t>2026. 10. 06</a:t>
            </a:r>
            <a:endParaRPr sz="1200" b="1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651075" y="3484966"/>
            <a:ext cx="4462810" cy="504056"/>
          </a:xfrm>
        </p:spPr>
        <p:txBody>
          <a:bodyPr wrap="square" lIns="27432" tIns="27432" rIns="27432" bIns="27432" anchor="ctr"/>
          <a:lstStyle/>
          <a:p>
            <a:r>
              <a:rPr sz="3000"/>
              <a:t>AI-QMS 사용자 매뉴얼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8334" y="5800514"/>
            <a:ext cx="954107" cy="240066"/>
          </a:xfrm>
          <a:prstGeom prst="rect">
            <a:avLst/>
          </a:prstGeom>
          <a:noFill/>
        </p:spPr>
        <p:txBody>
          <a:bodyPr wrap="square" lIns="27432" tIns="27432" rIns="27432" bIns="27432" rtlCol="0" anchor="ctr">
            <a:spAutoFit/>
          </a:bodyPr>
          <a:lstStyle/>
          <a:p>
            <a:pPr algn="ctr"/>
            <a:r>
              <a:rPr sz="1200" b="1" dirty="0" err="1">
                <a:latin typeface="Noto Sans KR"/>
              </a:rPr>
              <a:t>품질혁신팀</a:t>
            </a:r>
            <a:endParaRPr sz="1200" b="1" dirty="0">
              <a:latin typeface="Noto Sans K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40480" y="2788920"/>
            <a:ext cx="53035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300"/>
              </a:spcAft>
              <a:buNone/>
            </a:pPr>
            <a:r>
              <a:rPr sz="18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화면을 보며 따라 하는 사용 방법</a:t>
            </a:r>
          </a:p>
        </p:txBody>
      </p:sp>
    </p:spTree>
    <p:extLst>
      <p:ext uri="{BB962C8B-B14F-4D97-AF65-F5344CB8AC3E}">
        <p14:creationId xmlns:p14="http://schemas.microsoft.com/office/powerpoint/2010/main" val="3202315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776" y="18968"/>
            <a:ext cx="9712087" cy="504056"/>
          </a:xfrm>
        </p:spPr>
        <p:txBody>
          <a:bodyPr/>
          <a:lstStyle/>
          <a:p>
            <a:r>
              <a:t> Content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194560" y="1005840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377440" y="1188720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1170432"/>
            <a:ext cx="6903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664208"/>
            <a:ext cx="7406640" cy="640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309360" y="1225296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로그인, 화면 구성, 역할별 할 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029968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77440" y="2212848"/>
            <a:ext cx="384048" cy="384048"/>
          </a:xfrm>
          <a:prstGeom prst="ellipse">
            <a:avLst/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194560"/>
            <a:ext cx="6903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고객 부적합 8D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688336"/>
            <a:ext cx="7406640" cy="640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309360" y="2249424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접수 → D1~D8 → 종결, 단계별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3054096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E9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377440" y="3236976"/>
            <a:ext cx="384048" cy="384048"/>
          </a:xfrm>
          <a:prstGeom prst="ellips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3218688"/>
            <a:ext cx="6903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결재 · 기한 · 근거 · 보고서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712464"/>
            <a:ext cx="7406640" cy="640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09360" y="3273552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3인 결재, 기한 알림, 파일, 8D 보고서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194560" y="4078224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FD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77440" y="4261104"/>
            <a:ext cx="384048" cy="38404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242816"/>
            <a:ext cx="6903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B45309"/>
                </a:solidFill>
                <a:latin typeface="맑은 고딕"/>
                <a:ea typeface="맑은 고딕"/>
                <a:cs typeface="맑은 고딕"/>
              </a:rPr>
              <a:t>외주 품질 · 내부 품질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4736592"/>
            <a:ext cx="7406640" cy="640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9360" y="4297680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PCN·Issue 접수, 통보, 조립 불량, 내부 기록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5102352"/>
            <a:ext cx="7772400" cy="841248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377440" y="5285232"/>
            <a:ext cx="384048" cy="384048"/>
          </a:xfrm>
          <a:prstGeom prst="ellipse">
            <a:avLst/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5266944"/>
            <a:ext cx="690372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AI 원칙 · 문제 해결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77440" y="5760720"/>
            <a:ext cx="7406640" cy="640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309360" y="5321808"/>
            <a:ext cx="356616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AI가 하는 일, 자주 묻는 질문</a:t>
            </a:r>
          </a:p>
        </p:txBody>
      </p:sp>
    </p:spTree>
    <p:extLst>
      <p:ext uri="{BB962C8B-B14F-4D97-AF65-F5344CB8AC3E}">
        <p14:creationId xmlns:p14="http://schemas.microsoft.com/office/powerpoint/2010/main" val="396496295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전체 흐름 — 접수부터 종결까지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시작하기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145182" cy="160020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89888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STEP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39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고객 부적합 접수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187086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메일·문서 → AI가 칸 채움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39542" y="1280160"/>
            <a:ext cx="2145182" cy="16002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6702" y="1389888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STEP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76702" y="1691639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품질 검토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6702" y="2212848"/>
            <a:ext cx="187086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위험도·8D 발행 결정, Case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1884" y="1280160"/>
            <a:ext cx="2145182" cy="16002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59044" y="1389888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D1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9044" y="1691639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 구성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59044" y="2212848"/>
            <a:ext cx="187086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조직도 추천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4227" y="1280160"/>
            <a:ext cx="2145182" cy="160020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1387" y="1389888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D2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41387" y="1691639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문제 정의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1387" y="2212848"/>
            <a:ext cx="187086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5W2H · IS/IS NOT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86569" y="1280160"/>
            <a:ext cx="2145182" cy="1600200"/>
          </a:xfrm>
          <a:prstGeom prst="roundRect">
            <a:avLst>
              <a:gd name="adj" fmla="val 6000"/>
            </a:avLst>
          </a:prstGeom>
          <a:solidFill>
            <a:srgbClr val="EA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3729" y="1389888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1F4E9E"/>
                </a:solidFill>
                <a:latin typeface="맑은 고딕"/>
                <a:ea typeface="맑은 고딕"/>
                <a:cs typeface="맑은 고딕"/>
              </a:rPr>
              <a:t>D3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3729" y="1691639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봉쇄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3729" y="2212848"/>
            <a:ext cx="187086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재고 · 봉쇄조치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063239"/>
            <a:ext cx="2145182" cy="160020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172968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D4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474720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원인 분석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995927"/>
            <a:ext cx="187086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 도구 추천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39542" y="3063239"/>
            <a:ext cx="2145182" cy="160020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76702" y="3172968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D5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76702" y="3474720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대책 선정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76702" y="3995927"/>
            <a:ext cx="187086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 대책 후보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1884" y="3063239"/>
            <a:ext cx="2145182" cy="160020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59044" y="3172968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D6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59044" y="3474720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효과 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9044" y="3995927"/>
            <a:ext cx="187086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시료 수 · 성적서 읽기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04227" y="3063239"/>
            <a:ext cx="2145182" cy="160020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41387" y="3172968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D7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1387" y="3474720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재발방지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41387" y="3995927"/>
            <a:ext cx="187086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개정 · 수평전개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86569" y="3063239"/>
            <a:ext cx="2145182" cy="160020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23729" y="3172968"/>
            <a:ext cx="187086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D8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23729" y="3474720"/>
            <a:ext cx="1870862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8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23729" y="3995927"/>
            <a:ext cx="187086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점검 · 결재로 종결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5029200"/>
            <a:ext cx="3639312" cy="96012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093208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결재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모든 단계: 간사 기안 → 리더 → 챔피언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79392" y="5029200"/>
            <a:ext cx="3639312" cy="96012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62272" y="5093208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기한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3D 24시간 · 5D 14일 · 8D 30일 (접수 시각부터)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01583" y="5029200"/>
            <a:ext cx="3639312" cy="960120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4463" y="5093208"/>
            <a:ext cx="329184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300" b="1" i="0">
                <a:solidFill>
                  <a:srgbClr val="002060"/>
                </a:solidFill>
                <a:latin typeface="맑은 고딕"/>
                <a:ea typeface="맑은 고딕"/>
                <a:cs typeface="맑은 고딕"/>
              </a:rPr>
              <a:t>순서</a:t>
            </a:r>
          </a:p>
          <a:p>
            <a:pPr algn="l">
              <a:spcAft>
                <a:spcPts val="300"/>
              </a:spcAft>
              <a:buNone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앞 단계가 최종 승인되어야 다음 단계로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로그인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시작하기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80" cy="3954856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522976" cy="380855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97686" y="3639235"/>
            <a:ext cx="4588306" cy="469087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2238" y="3483787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188720"/>
            <a:ext cx="49469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사내 계정 ID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이메일의 @ 앞자리만 넣습니다. 예: sjkim@ramostek.com → sjkim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7686" y="4467682"/>
            <a:ext cx="4588306" cy="469087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2238" y="431223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1911095"/>
            <a:ext cx="494690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비밀번호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IT팀이 안내한 비밀번호를 넣습니다.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2391156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372868"/>
            <a:ext cx="494690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8D 시스템 로그인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아래의 로그인 버튼을 누릅니다.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2852927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834639"/>
            <a:ext cx="49469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로그아웃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끝나면 화면 오른쪽 위의 나가기 버튼을 누릅니다. 공용 PC에서는 꼭 로그아웃합니다.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650992"/>
            <a:ext cx="533095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5705855"/>
            <a:ext cx="511149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시스템 주소는 서버 설치 후 IT팀이 안내합니다. Edge 또는 Chrome에서 엽니다. 별도 프로그램 설치는 없습니다.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화면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시작하기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7498079" cy="4802428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7351775" cy="465612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19" y="1709854"/>
            <a:ext cx="1593835" cy="3925114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7472" y="155440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8229600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188720"/>
            <a:ext cx="3118104" cy="1170431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왼쪽 메뉴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업무를 고릅니다. 외주 품질, 사내 품질, 고객 부적합(STEP 01·02), D1~D8, Evidence, 8D 리포트.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15409" y="1283451"/>
            <a:ext cx="2694917" cy="231306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59961" y="1128003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245059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432304"/>
            <a:ext cx="311810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CASE 선택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지금 보고 있는 Case입니다. D1~D8은 여기서 고른 Case의 화면입니다.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99502" y="1499103"/>
            <a:ext cx="4041441" cy="231306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44054" y="1343655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0" y="343357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415284"/>
            <a:ext cx="311810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위쪽 버튼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SLA 관제(기한), 알림 종, 8D 리포트, 새로고침, 로그아웃.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64421" y="3552700"/>
            <a:ext cx="3853281" cy="2392728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008973" y="339725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0" y="441655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398264"/>
            <a:ext cx="31181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가운데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고른 메뉴의 입력 화면입니다. 여기서 쓰고 저장합니다.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0" y="513892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5120640"/>
            <a:ext cx="311810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오른쪽 AI Quality Assistant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단계 점검 결과와 AI 실행 기록을 보여 줍니다.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역할별로 할 수 있는 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시작하기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사내 계정에는 메뉴가 모두 보이지만 권한이 없는 버튼은 서버가 거절합니다. 외주사 계정에는 외주 접수·통보 화면만 보입니다.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57400"/>
          <a:ext cx="1127455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5637276"/>
                <a:gridCol w="338236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할 수 있는 일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계정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담당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고객 부적합 접수 등록 (STEP 01)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전략소싱팀 · 영업팀 · 품질혁신팀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검토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검토와 Case 생성 (STEP 02), 외주·내부 품질 심의, 보고서 송부 기록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품질혁신팀 지정 인원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8D 간사 (기안)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D1~D8 작성과 단계 결재 기안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간사로 지정된 인원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리더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결재 2차 승인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실장·팀장급 지정 인원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챔피언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 결재 최종 승인, Case 종결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임원급 지정 인원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자기 업체의 PCN·Issue 접수, 통보 확인과 회신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TechL · WinPAC · CTST 담당자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접수·Case 삭제 등 관리 작업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master 계정 하나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STEP 01 접수 ① — 자료를 올리고 AI로 채우기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834777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ake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61872"/>
            <a:ext cx="5688473" cy="4974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50672" y="1549645"/>
            <a:ext cx="5442907" cy="1295985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5224" y="1394197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566297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2057" y="1188720"/>
            <a:ext cx="4781406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파일 올리기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고객 메일·문서를 끌어다 놓습니다. 화면 캡처는 Ctrl+V. (PDF, DOCX, XLSX, PNG, JPG, EML)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0672" y="2879418"/>
            <a:ext cx="1079281" cy="23709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5224" y="272397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6566297" y="218998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2057" y="2171700"/>
            <a:ext cx="4781406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외부 AI 분석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버튼을 누르면 AI가 파일을 읽고 아래 칸을 채웁니다. 보통 수 초가 걸립니다.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7245" y="3544304"/>
            <a:ext cx="5649760" cy="2670084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91797" y="338885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6566297" y="291236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2057" y="2894076"/>
            <a:ext cx="4781406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원본과 대조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고객사, 제품명, P/N, Lot, 수량, 현상을 원본과 비교해 틀린 곳을 고칩니다. 원본에 없는 값은 비워 둡니다.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66297" y="5422392"/>
            <a:ext cx="5165454" cy="886968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6025" y="5477255"/>
            <a:ext cx="4945998" cy="7955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 주의: 올린 자료는 분석을 위해 외부 AI(Gemini, Groq)로 전송됩니다. 외부 전송이 금지된 자료는 올리지 말고 직접 입력합니다.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STEP 01 접수 ② — 확인하고 품질 검토 요청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934809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ake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6788505" cy="4974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55589" y="1281257"/>
            <a:ext cx="6702917" cy="1798807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00141" y="1125809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666329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2089" y="1188720"/>
            <a:ext cx="368137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위험 신호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Line Stop, Safety, 재발 여부를 고릅니다. 화면의 사전 검토 신호는 참고용입니다.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" y="4628692"/>
            <a:ext cx="3215030" cy="265541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036" y="447324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7666329" y="218998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32089" y="2171700"/>
            <a:ext cx="368137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고객 대응 주관 담당자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자동 추천을 확인합니다. eMMC 제품은 전략소싱팀 이하영 Pro로 고정됩니다.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8484" y="5342656"/>
            <a:ext cx="6457127" cy="388437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036" y="51872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7666329" y="317296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32089" y="3154680"/>
            <a:ext cx="368137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접수 내용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내용과 담당자를 확인했다는 칸에 체크합니다.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90706" y="5881055"/>
            <a:ext cx="967800" cy="29480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135258" y="5725607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7666329" y="389534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32089" y="3877056"/>
            <a:ext cx="368137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품질 검토 요청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누르면 접수가 STEP 02 품질 검토 대기로 넘어갑니다.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66329" y="5650992"/>
            <a:ext cx="406542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6057" y="5705855"/>
            <a:ext cx="384596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위험도, 8D 발행 여부, 기한은 STEP 02에서 품질 검토자가 확정합니다.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STEP 02 품질 검토 — Case 만들기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941563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4795259" cy="4974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895734" y="1943718"/>
            <a:ext cx="3322007" cy="3962515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0286" y="178827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673083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8843" y="1188720"/>
            <a:ext cx="5674620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접수 내용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목록에서 접수를 고르고 「품질 검토 시작」을 누른 뒤 원본 파일과 추출 내용을 확인합니다.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673083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8843" y="1911095"/>
            <a:ext cx="5674620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판정 입력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최종 Severity, 8D 발행 여부, 초동조치 SLA, 원인분석 주관부서, 검토 의견을 넣고 리더·챔피언·간사 등을 지정합니다.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79302" y="4564198"/>
            <a:ext cx="3154870" cy="1266425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3854" y="440875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673083" y="291236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8843" y="2894076"/>
            <a:ext cx="5674620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승인 및 정식 Case 생성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Case 번호가 만들어지고 3D·5D·8D 기한이 시작됩니다. 화면은 승인이 끝난 모습입니다.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5673083" y="363474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8843" y="3616452"/>
            <a:ext cx="5674620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그 밖의 선택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「보완 요청」은 접수자에게 돌려보내고, 「반려」는 8D 대상이 아닌 접수로 닫습니다.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3083" y="5650992"/>
            <a:ext cx="6058668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82811" y="5705855"/>
            <a:ext cx="5839212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품질 검토 권한자만 할 수 있습니다. 승인 후 「8D Case 열기」로 바로 D1으로 갑니다.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D1 팀 구성 ① — 추천 확인과 확정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921825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3775521" cy="4974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653345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9105" y="1188720"/>
            <a:ext cx="6694358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역할별 추천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조직도에서 추천된 챔피언, 리더, FA, 공정, 봉쇄, 외주 관리, 간사를 확인하고 필요하면 바꿉니다.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2866584" y="5971018"/>
            <a:ext cx="645177" cy="243888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11136" y="581557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4653345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9105" y="1911095"/>
            <a:ext cx="6694358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 추천 적용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추천된 담당자를 팀에 넣습니다.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96693" y="5971018"/>
            <a:ext cx="712253" cy="243888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41245" y="581557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4653345" y="239115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9105" y="2372868"/>
            <a:ext cx="6694358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현재 구성 확정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팀 구성을 확정합니다.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53345" y="5879592"/>
            <a:ext cx="7078406" cy="4297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3073" y="5934455"/>
            <a:ext cx="6858950" cy="3383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여기서 지정한 리더와 챔피언이 이 Case의 모든 단계 결재자가 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D1 팀 구성 ② — RACI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035040" cy="4731604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1_rac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888736" cy="45853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66559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책임 표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주요 업무별로 최종 책임(A), 실행(R), 협의(C), 공유(I)가 맞는지 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6883" y="4924355"/>
            <a:ext cx="5555672" cy="37078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1435" y="4768907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766559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911095"/>
            <a:ext cx="458114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RACI 책임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확인 칸에 체크합니다.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26733" y="5341135"/>
            <a:ext cx="1425823" cy="349688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71285" y="5185687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766559" y="239115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372868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RACI 확인 후 CFT 확정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누르면 결재 검토서가 열립니다(3장 결재 참고).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59" y="5879592"/>
            <a:ext cx="4965192" cy="4297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5934455"/>
            <a:ext cx="4745736" cy="3383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팀이 확정되면 팀원에게 접수된 부적합 내용이 메일로 공유됩니다.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D2 문제 정의 ① — 접수 자료에서 사실 가져오기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486400" cy="4993057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2_s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340096" cy="4846753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217920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188720"/>
            <a:ext cx="512978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근거 자료 첨부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화면 위쪽 「근거 자료 (Evidence)」에 고객 원본을 먼저 올립니다. D2는 원본 파일이 있어야 결재에 올릴 수 있습니다.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10784" y="1531737"/>
            <a:ext cx="1098736" cy="308201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55336" y="1376289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218998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71700"/>
            <a:ext cx="512978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접수자료 불러오기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승인된 접수 내용을 가져옵니다.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07992" y="1531737"/>
            <a:ext cx="1056548" cy="308201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352544" y="1376289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633472"/>
            <a:ext cx="512978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자료 기반 AI 판단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AI가 원본에서 5W2H 사실 항목(무엇이, 어디서, 언제, 얼마나)을 채웁니다.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6217920" y="3374136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55848"/>
            <a:ext cx="512978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발생 사실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아래 5W2H 칸을 원본과 대조해 고칩니다.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5879592"/>
            <a:ext cx="5513832" cy="4297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5934455"/>
            <a:ext cx="5294376" cy="3383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D2에는 사실만 적습니다. 원인 추정은 D4에서 합니다.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D2 문제 정의 ② — IS / IS NOT 비교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035040" cy="3969203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2_isn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888736" cy="38228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0823" y="2153291"/>
            <a:ext cx="1303624" cy="30482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5375" y="1997843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188720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한국어 AI 비교 (8개)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AI가 발생한 곳과 발생하지 않은 곳의 비교 행을 만듭니다.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31046" y="2153291"/>
            <a:ext cx="1251587" cy="30482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875598" y="1997843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911095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한국어 기본 비교 (4개)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 없이 기본 4개 행을 만듭니다.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9232" y="2153291"/>
            <a:ext cx="652651" cy="30482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23784" y="1997843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633472"/>
            <a:ext cx="458114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행 추가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직접 행을 넣습니다.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0" y="3113532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095244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사실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각 행을 실제 Lot·라인 자료와 대조한 뒤 체크합니다. 체크하지 않은 행은 AI 초안으로 남습니다.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D2 문제 정의 ③ — 정의문 작성과 승인 요청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766559" cy="295640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2_stm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6620255" cy="281009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73051" y="1608947"/>
            <a:ext cx="948774" cy="335873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17603" y="1453499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498079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188720"/>
            <a:ext cx="384962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 초안 생성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입력한 사실만으로 문제 정의문 초안을 만듭니다. 문장을 다듬습니다.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4844" y="3048088"/>
            <a:ext cx="5931271" cy="391404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19396" y="289264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7498079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911095"/>
            <a:ext cx="384962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사실 검토 완료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원본, 수량, Lot, 비교 대상을 확인했으면 체크합니다.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08487" y="3492073"/>
            <a:ext cx="1313337" cy="368933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53039" y="3336625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7498079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633472"/>
            <a:ext cx="384962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D2 문제 정의 승인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누르면 결재 검토서가 열립니다.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5879592"/>
            <a:ext cx="4233672" cy="4297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7" y="5934455"/>
            <a:ext cx="4014216" cy="3383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「임시 저장」은 결재 없이 내용만 저장합니다.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D3 봉쇄 ① — 현재 재고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597420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3_i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3451116" cy="4974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328940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4700" y="1188720"/>
            <a:ext cx="7018763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ERP · MES Excel 가져오기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각 시스템에서 내려받은 재고 Excel을 올립니다. 이 파일은 외부로 보내지 않고 브라우저 안에서만 읽습니다.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4328940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4700" y="1911095"/>
            <a:ext cx="7018763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Lot 분류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발생 Lot과 앞뒤 인접 Lot이 자동으로 분류됩니다. 맞는지 보고 확인 칸에 체크합니다.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51258" y="5948961"/>
            <a:ext cx="843968" cy="209459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95810" y="5793513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4328940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4700" y="2633472"/>
            <a:ext cx="7018763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D3 Material Flow에 반영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확인한 수량을 아래 위치별 표로 옮깁니다.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8940" y="5650992"/>
            <a:ext cx="7402811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8668" y="5705855"/>
            <a:ext cx="7183355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ERP·MES와 자동으로 연결되어 있지 않습니다. 재고 수량은 Excel을 올리거나 직접 입력합니다.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D3 봉쇄 ② — 위치별 수량과 봉쇄조치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80" cy="4324735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3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522976" cy="417843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400800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188720"/>
            <a:ext cx="494690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7개 영역 생성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처음에는 이 버튼으로 7개 관리 영역(원자재, 입고검사, 공정 재공, 완제품 창고, 출하 대기·운송, 고객 창고, 고객 생산라인)을 만듭니다.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400800" y="218998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171700"/>
            <a:ext cx="49469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총수량 · Hold · 선별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영역마다 Lot과 수량을 채웁니다.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291236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894076"/>
            <a:ext cx="49469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긴급 봉쇄조치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아래 표에 출하정지, 재고격리, 고객 선별 등을 대상·조치·담당자·기한·결과와 함께 등록합니다.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5650992"/>
            <a:ext cx="533095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5705855"/>
            <a:ext cx="511149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D3는 원인을 없애는 단계가 아니라 추가 유출을 막는 단계입니다. 의심 범위는 넓게 Hold합니다.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D3 봉쇄 ③ — 유효성 검증과 승인 요청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035040" cy="3873631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3_e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888736" cy="3727327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66560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항목별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추가 불량 없음, 라인 정상 가동, 수량 일치를 YES/NO로 고릅니다.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11095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근거와 결론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효과성 검증 근거 파일 이름과 봉쇄 유효성 결론을 적습니다.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3747" y="4077951"/>
            <a:ext cx="5281944" cy="354217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78299" y="3922503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33472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봉쇄 검토 완료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범위, 수량, 조치, 근거를 확인했으면 체크합니다.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61672" y="4472877"/>
            <a:ext cx="956944" cy="334229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06224" y="4317429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37413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355848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D3 봉쇄 승인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누르면 결재 검토서가 열립니다. 기한은 접수 후 24시간입니다.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D4 원인 분석 ① — AI에게 도구 추천받기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071596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4_ad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3925292" cy="4974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5747" y="1845150"/>
            <a:ext cx="793626" cy="23709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0299" y="168970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803116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8876" y="1188720"/>
            <a:ext cx="6544587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AI에게 도구 추천받기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AI가 접수 내용, D2 문제 정의, 첨부 자료 목록을 읽습니다.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0672" y="2908968"/>
            <a:ext cx="3758528" cy="1217184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5224" y="275352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4803116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8876" y="1911095"/>
            <a:ext cx="6544587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AI가 읽은 Case 특성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불량 유형, 발생 패턴 등 5개 항목과 이유를 확인합니다.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4548" y="4347093"/>
            <a:ext cx="3610775" cy="655724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9100" y="4191645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4803116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8876" y="2633472"/>
            <a:ext cx="6544587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추천 도구와 순서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도구마다 왜 필요한지, 확인할 질문, 다음 단계가 나옵니다.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4803116" y="3374136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8876" y="3355848"/>
            <a:ext cx="6544587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 추천을 작업대에 적용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목록 맨 아래 버튼입니다. 도구 목록만 들어가고 가설·근거·결과는 비어 있습니다.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3116" y="5879592"/>
            <a:ext cx="6928635" cy="429768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2844" y="5934455"/>
            <a:ext cx="6709179" cy="3383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AI는 도구와 순서만 제안합니다. 원인을 정하지 않습니다.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D4 원인 분석 ② — 도구별 분석 기록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035040" cy="5035065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4_bench_0_6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888736" cy="488876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66559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분석 목적·가설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도구마다 무엇을 확인하려는지 적습니다.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766559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11095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연결 Evidence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분석에 쓴 원본 파일 이름을 적습니다.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766559" y="2651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633472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분석 결과·해석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결과와 해석을 적고 담당자, 상태를 고릅니다.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766559" y="3374136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355848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Evidence와 결과 사실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원본과 대조했으면 체크합니다.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59" y="5650992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5705855"/>
            <a:ext cx="474573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분석 원본 파일은 왼쪽 메뉴 Evidence 매트릭스에서 연결 단계를 D4로 골라 올립니다.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D4 원인 분석 ③ — 원인 3종 확정과 승인 요청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046301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4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3899997" cy="497433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777821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43581" y="1188720"/>
            <a:ext cx="6569882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세 원인 작성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발생원인(왜 만들어졌나), 유출원인(왜 걸러지지 않았나), 시스템원인(왜 표준이 막지 못했나)을 각각 적습니다.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4777821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43581" y="1911095"/>
            <a:ext cx="6569882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입증과 판정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입증 근거, 검증 방법·결과를 적고 판정을 Confirmed로 바꾼 뒤 인과관계 기준 4개에 체크합니다.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3674" y="5620710"/>
            <a:ext cx="3513352" cy="254616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8226" y="546526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4777821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3581" y="2633472"/>
            <a:ext cx="6569882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D4 원인 검토 완료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시험 결과와 원본을 확인했으면 체크합니다.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0240" y="5884236"/>
            <a:ext cx="795464" cy="241278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54792" y="572878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6" name="Oval 15"/>
          <p:cNvSpPr/>
          <p:nvPr/>
        </p:nvSpPr>
        <p:spPr>
          <a:xfrm>
            <a:off x="4777821" y="311353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3581" y="3095244"/>
            <a:ext cx="6569882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D4 근본원인 승인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누르면 결재 검토서가 열립니다.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D5 대책 선정 ① — AI에게 대책 후보 받기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779377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5_advice_0_8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4633073" cy="4974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2227" y="1963147"/>
            <a:ext cx="1094919" cy="274660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6779" y="1807699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510897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6657" y="1188720"/>
            <a:ext cx="5836806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AI에게 대책 후보 추천받기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D4에서 확정한 원인마다 대책 후보가 나옵니다. 원인이 확정되지 않았으면 추천을 받을 수 없습니다.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510897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6657" y="1911095"/>
            <a:ext cx="5836806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후보 읽기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원인 제거 방식, 강도 판단, 적용 위치, 고객 PCN, 부작용·위험, 검증 방법을 봅니다.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5510897" y="2651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6657" y="2633472"/>
            <a:ext cx="5836806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후보 체크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쓸 후보 왼쪽 칸에 체크합니다.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5510897" y="3113532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6657" y="3095244"/>
            <a:ext cx="5836806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체크한 대책을 목록에 추가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목록 아래 버튼입니다. 추가된 후보는 모두 '선정 안 됨' 상태입니다.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10897" y="5650992"/>
            <a:ext cx="6220854" cy="658368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0625" y="5705855"/>
            <a:ext cx="6001398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 점검: 교육·주의 같은 약한 대책만 있는 원인, 대책이 빠진 원인을 시스템이 표시해 줍니다.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D5 대책 선정 ② — 대책 평가와 선정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035040" cy="4557342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5_cands_0_6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888736" cy="441103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66560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대책 ID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D5-O1처럼 정합니다. D6 시험과 D7 개정에서 다시 쓰이므로 한번 정하면 바꾸지 않습니다.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11095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평가 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원인 제거 근거, 적용성, 비용 영향, 부작용, 담당자, 목표일, 사전 검증 방법, 선정 근거를 채웁니다.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766560" y="291236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894076"/>
            <a:ext cx="458114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선정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실제로 실행할 대책에만 체크합니다.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5879592"/>
            <a:ext cx="4965192" cy="4297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76288" y="5934455"/>
            <a:ext cx="4745736" cy="3383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화면 위 「저장」을 눌러야 내용이 저장됩니다.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D5 대책 선정 ③ — PCN 판단과 결재 요청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583679" cy="3240423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5_p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6437375" cy="30941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74536" y="1467503"/>
            <a:ext cx="1948882" cy="573229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19088" y="1312055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315199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59" y="1188720"/>
            <a:ext cx="403250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PCN 필요 여부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공정·자재·조건이 바뀌는 대책이면 true로 고르고 ECN 번호, 고객 승인 상태, 변경 승인 근거를 적습니다.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2056" y="3299865"/>
            <a:ext cx="2228282" cy="223634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96608" y="3144417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7315199" y="218998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59" y="2171700"/>
            <a:ext cx="40325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검토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입력 내용과 원본 증거를 검토했으면 체크합니다.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31743" y="3794874"/>
            <a:ext cx="1214279" cy="360257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76295" y="363942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7315199" y="291236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2894076"/>
            <a:ext cx="403250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D5 결재 검토서 열기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빠진 항목이 없으면 결재 검토서가 열립니다. 빠진 항목이 있으면 무엇이 없는지 알려 줍니다.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199" y="5879592"/>
            <a:ext cx="4416552" cy="4297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5934455"/>
            <a:ext cx="4197096" cy="3383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D5~D8은 모두 이 버튼으로 결재를 시작합니다.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D6 효과 검증 ① — 시료 수와 시험 계획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891979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6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3745675" cy="4974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890601" y="1616608"/>
            <a:ext cx="313529" cy="243888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35153" y="14611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623499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9259" y="1188720"/>
            <a:ext cx="67242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① 필요한 시료 수 계산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목표 불량률(PPM), 신뢰도, 허용 불량 수를 넣고 「계산」을 누릅니다. 통계 공식으로 계산합니다.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278" y="2271511"/>
            <a:ext cx="533954" cy="223991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1830" y="2116063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4623499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9259" y="1911095"/>
            <a:ext cx="67242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② AI 시험 계획 받기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D5 선정 대책마다 시험명, 조건, 합격 기준, 비교 대상이 나옵니다.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4623499" y="2651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9259" y="2633472"/>
            <a:ext cx="67242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체크한 계획을 시험 목록에 추가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쓸 계획에 체크하고 누르면 시험 행이 '대기' 상태로 생깁니다.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3499" y="5650992"/>
            <a:ext cx="710825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3227" y="5705855"/>
            <a:ext cx="688879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예: 원래 불량률 3,000 PPM을 신뢰도 90%로 넘어서려면 불량 0개 기준 767개가 필요합니다.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D6 효과 검증 ② — 성적서 읽기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572000" cy="4773168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6_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4425696" cy="462686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2826" y="1625280"/>
            <a:ext cx="934255" cy="273274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77378" y="146983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303520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1188720"/>
            <a:ext cx="604418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검증 시험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성적서를 연결할 시험 행을 고릅니다.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9694" y="1625280"/>
            <a:ext cx="1721684" cy="273274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14246" y="146983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0" y="166878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650492"/>
            <a:ext cx="604418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성적서 양식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등록된 양식을 고릅니다. 없으면 옆의 「양식 등록·관리」에서 먼저 등록합니다.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2826" y="2039112"/>
            <a:ext cx="1681450" cy="302013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7378" y="1883663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303520" y="239115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372868"/>
            <a:ext cx="604418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성적서 파일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PDF, 이미지, Excel 파일을 고릅니다.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16889" y="2067850"/>
            <a:ext cx="606639" cy="267527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261441" y="191240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5303520" y="285292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834640"/>
            <a:ext cx="604418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성적서 읽기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AI가 양식의 항목만 옮겨 적습니다.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2826" y="3062194"/>
            <a:ext cx="4129952" cy="2296450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7378" y="290674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5303520" y="331470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296412"/>
            <a:ext cx="604418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값과 찾은 위치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성적서 원본과 대조합니다.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30813" y="5493453"/>
            <a:ext cx="1031965" cy="267527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75365" y="5338005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8" name="Oval 27"/>
          <p:cNvSpPr/>
          <p:nvPr/>
        </p:nvSpPr>
        <p:spPr>
          <a:xfrm>
            <a:off x="5303520" y="377647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3758184"/>
            <a:ext cx="604418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이 값으로 시험 행 채우기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시료 수, 불량 수, 시험일, 근거가 시험 행에 들어갑니다.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5650992"/>
            <a:ext cx="6428232" cy="658368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3248" y="5705855"/>
            <a:ext cx="620877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 주의: 판정(PASS/FAIL)은 자동으로 들어가지 않습니다. 시험 행에서 직접 고릅니다.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D6 효과 검증 ③ — 개선 전·후 비교와 점검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852160" cy="4228359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6_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705856" cy="40820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0859" y="2338234"/>
            <a:ext cx="2678505" cy="348050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35411" y="218278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583680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188720"/>
            <a:ext cx="476402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대책 선택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비교할 대책을 고릅니다. 검출 시험과 문서 확인은 제품 불량률이 아니므로 합치지 않습니다.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0010" y="2879501"/>
            <a:ext cx="1085949" cy="34053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44562" y="2724053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0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911095"/>
            <a:ext cx="476402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시험 결과 불러오기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그 대책의 시험 행에서 적용 후 불량 수와 시료 수를 가져옵니다.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0859" y="3240346"/>
            <a:ext cx="445779" cy="34053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5411" y="308489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0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633472"/>
            <a:ext cx="476402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비교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불량률 상한이 기준보다 낮으면 '개선 확인'입니다. 「비교 결과 기록」으로 남깁니다.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859" y="4230084"/>
            <a:ext cx="1081838" cy="31046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35411" y="407463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37413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55848"/>
            <a:ext cx="476402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저장된 내용으로 점검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대책별 시험, 시료 수, 날짜, PCN, 봉쇄 해제 조건을 규칙으로 확인합니다.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5650992"/>
            <a:ext cx="514807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93408" y="5705855"/>
            <a:ext cx="492861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'판단 불가 — 시료 부족'이면 화면에 나오는 필요 시료 수만큼 추가 시험합니다. '개선되지 않음'이면 D5 대책을 다시 봅니다.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D6 효과 검증 ④ — 적용 내역과 봉쇄 해제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035040" cy="3792762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6_obj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888736" cy="364645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66560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적용 내역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BOM Revision, 적용 LOT, 적용일, 적용 장소, 적용 증거를 적습니다.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11095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개선 전·후 지표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전·후 지표와 비교 근거를 적습니다. 비교 결과를 기록했으면 자동으로 채워져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0823" y="4090587"/>
            <a:ext cx="1787345" cy="529050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5375" y="3935139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633472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봉쇄 해제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Released(해제) 또는 Retained(유지)를 고르고 근거와 확인 증거를 적습니다.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0" y="3374136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355848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결재 요청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아래 검토 확인에 체크하고 「D6 결재 검토서 열기」를 누릅니다.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60" y="5650992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5705855"/>
            <a:ext cx="474573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모든 검증 시험이 PASS가 아니면 봉쇄 해제를 고를 수 없습니다(점검에서 차단).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D7 재발방지 ① — 개정할 문서와 PFMEA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891979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7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3745675" cy="4974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7278" y="1502199"/>
            <a:ext cx="533954" cy="223991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1830" y="1346751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623499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9259" y="1188720"/>
            <a:ext cx="67242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AI에게 개정 대상 추천받기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개정할 문서, PFMEA 행 초안, 전파 대상이 나옵니다.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4623499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9259" y="1911095"/>
            <a:ext cx="672420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항목 체크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쓸 문서, PFMEA 행, 전파 대상에 체크합니다.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4623499" y="2391156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9259" y="2372868"/>
            <a:ext cx="672420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체크한 항목 반영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문서는 아래 개정 목록에 '진행 중'으로 들어갑니다.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4623499" y="2852927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9259" y="2834639"/>
            <a:ext cx="67242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개정 목록 채우기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문서 번호, Revision, 담당자, 목표일을 직접 적고, 개정이 끝나면 상태를 Completed로 바꾸고 근거를 적습니다.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3499" y="5650992"/>
            <a:ext cx="7108252" cy="658368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3227" y="5705855"/>
            <a:ext cx="688879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AI는 문서 번호, Revision, PFMEA 점수(심각도·발생도·검출도)를 쓰지 않습니다. 담당자가 채웁니다.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D7 재발방지 ② — 수평전개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891979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7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3745675" cy="4974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7278" y="1502199"/>
            <a:ext cx="704325" cy="223991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1830" y="1346751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623499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9259" y="1188720"/>
            <a:ext cx="672420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제품 목록 관리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수평전개 대상이 될 제품(제품명, 제품군, 패키지, 외주사, 생산 Site, 공정, 고객사)을 등록합니다. 한 번 등록하면 모든 Case에서 씁니다.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4623499" y="218998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9259" y="2171700"/>
            <a:ext cx="67242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AI에게 동일 위험 판단받기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제품마다 동일 위험 여부, 판단 이유, 전개 조치가 나옵니다.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4623499" y="291236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9259" y="2894076"/>
            <a:ext cx="672420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체크한 후보를 수평전개에 추가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전개할 후보에 체크하고 누릅니다.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4623499" y="3374136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9259" y="3355848"/>
            <a:ext cx="67242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수평전개 목록 채우기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담당자, 상태(Completed 또는 Not Applicable), 실행 근거를 직접 적습니다.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23499" y="5879592"/>
            <a:ext cx="7108252" cy="429768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3227" y="5934455"/>
            <a:ext cx="6888796" cy="3383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AI는 제품 목록에 없는 제품을 만들지 않습니다.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D7 재발방지 ③ — 교훈 저장과 점검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481576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7_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4335272" cy="4974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6853" y="1544346"/>
            <a:ext cx="851984" cy="250613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91405" y="138889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213095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8856" y="1188720"/>
            <a:ext cx="6134608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AI에게 교훈 요약받기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현상, 원인, 대책, 효과, 교훈, 핵심어 초안이 나옵니다. 내용을 고칩니다.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86" y="4335033"/>
            <a:ext cx="524536" cy="27364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069138" y="4179585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5213095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8856" y="1911095"/>
            <a:ext cx="6134608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교훈 저장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저장된 교훈은 다음 Case의 대책 추천에서 유사 사례로 쓰입니다.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853" y="4950078"/>
            <a:ext cx="841369" cy="250613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1405" y="479463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213095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8856" y="2633472"/>
            <a:ext cx="6134608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저장된 내용으로 점검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개정·수평전개에서 빠진 곳을 규칙으로 확인합니다.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5213095" y="3113532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8856" y="3095244"/>
            <a:ext cx="6134608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결재 요청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아래 검토 확인에 체크하고 「D7 결재 검토서 열기」를 누릅니다.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D8 종결 ① — 종결 준비 점검과 일관성 검토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4446441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8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4300137" cy="497433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4558" y="1539404"/>
            <a:ext cx="828828" cy="24749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9110" y="138395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177961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43721" y="1188720"/>
            <a:ext cx="6169742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저장된 내용으로 점검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D1~D7 결재, 검증 시험, 봉쇄 결정, 재발방지, 교훈과 처리 기간이 나옵니다.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177961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43721" y="1911095"/>
            <a:ext cx="6169742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종결 점검표 근거 채우기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빈 근거 칸을 기록으로 채웁니다. 확인 체크는 원본을 보고 직접 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558" y="5248999"/>
            <a:ext cx="600525" cy="24749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9110" y="5093551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177961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43721" y="2633472"/>
            <a:ext cx="6169742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AI에게 D1~D7 일관성 검토받기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문제와 원인, 원인과 대책, 대책과 검증, 수량·Lot·날짜가 서로 맞는지 지적합니다.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7961" y="5650992"/>
            <a:ext cx="6553790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7689" y="5705855"/>
            <a:ext cx="6334334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종결은 간사 기안 → 리더 → 챔피언의 D8 결재로 끝납니다. 고객 보고서 송부는 종결 조건이 아닙니다.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D8 종결 ② — 종결 초안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120640" cy="4111354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8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4974336" cy="39650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490598" y="1587218"/>
            <a:ext cx="686077" cy="277693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35150" y="143177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5852159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88720"/>
            <a:ext cx="54955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AI에게 종결 초안 받기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잔여 위험, 고객 종결 요약(영문 선택), 팀 인정 초안이 나옵니다.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79436" y="2696552"/>
            <a:ext cx="893136" cy="277693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3988" y="254110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5852159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11095"/>
            <a:ext cx="54955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잔여 위험 칸에 넣기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초안을 아래 칸으로 옮긴 뒤 빠진 내용을 보탭니다.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79436" y="4827562"/>
            <a:ext cx="814490" cy="277693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23988" y="467211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5852159" y="2651760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633472"/>
            <a:ext cx="549554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팀 인정 칸에 넣기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팀 기여 문안을 옮깁니다.</a:t>
            </a:r>
          </a:p>
        </p:txBody>
      </p:sp>
      <p:sp>
        <p:nvSpPr>
          <p:cNvPr id="18" name="Oval 17"/>
          <p:cNvSpPr/>
          <p:nvPr/>
        </p:nvSpPr>
        <p:spPr>
          <a:xfrm>
            <a:off x="5852159" y="3113532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095244"/>
            <a:ext cx="54955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결재 요청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종결 점검표 5개 항목을 확인·체크하고 「D8 결재 검토서 열기」를 누릅니다.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59" y="5650992"/>
            <a:ext cx="5879592" cy="658368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61888" y="5705855"/>
            <a:ext cx="566013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 주의: 초안은 빠뜨릴 수 있습니다. 시연에서 AI는 별도 Hold 중인 의심품 4,400개를 적지 않았습니다. 남은 위험은 직접 확인해 적습니다.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종결 후 재발 모니터링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1F4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고객 부적합 8D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5669279" cy="3311645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8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522975" cy="316534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4836" y="1786214"/>
            <a:ext cx="1401043" cy="338653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9388" y="163076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400799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59" y="1188720"/>
            <a:ext cx="49469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확인 시점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종결 후 며칠 뒤에 확인할지 적습니다. 기본은 30, 60, 90일입니다.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3782" y="1793491"/>
            <a:ext cx="958305" cy="331376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48334" y="1638043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6400799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1911095"/>
            <a:ext cx="4946904" cy="388620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모니터링 일정 만들기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종결일 기준으로 기한이 정해집니다.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27224" y="2980494"/>
            <a:ext cx="389589" cy="302270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171776" y="282504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6400799" y="2391156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59" y="2372868"/>
            <a:ext cx="49469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결과 기록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기한이 되면 결과를 고르고 내용을 적은 뒤 「기록」을 누릅니다. 재발이면 내용을 반드시 적습니다.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799" y="5650992"/>
            <a:ext cx="533095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7" y="5705855"/>
            <a:ext cx="511149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기한이 되면 팀에게 알림 메일이 갑니다. 모니터링 기록은 종결된 8D 결재를 다시 열지 않습니다.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결재 ① — 결재 검토서 열기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3369564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결재 · 기한 · 근거 · 보고서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400800" cy="3074438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8_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6254496" cy="29281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4979" y="3159200"/>
            <a:ext cx="2166537" cy="218839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9531" y="300375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132320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1188720"/>
            <a:ext cx="4215383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검토 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「입력 내용과 원본 증거를 검토했습니다」에 체크합니다.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88878" y="3640146"/>
            <a:ext cx="1181341" cy="351581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233430" y="348469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0" y="192938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0" y="1911095"/>
            <a:ext cx="4215383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결재 검토서 열기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D5~D8은 이 버튼, D1~D4는 각 단계의 승인 버튼(예: D2 문제 정의 승인)을 누릅니다.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0" y="291236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894076"/>
            <a:ext cx="4215383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빠진 항목 안내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필수 내용이 없으면 무엇이 없는지 알려 주고 검토서가 열리지 않습니다.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5650992"/>
            <a:ext cx="4599431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5705855"/>
            <a:ext cx="4379975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결재 전에 「저장」으로 내용을 저장하고, 근거 파일도 모두 올려 둡니다.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결재 ② — 기안 → 리더 → 챔피언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3369564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결재 · 기한 · 근거 · 보고서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035040" cy="4533989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pproval_0_7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888736" cy="438768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81891" y="1823313"/>
            <a:ext cx="5585657" cy="863121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6443" y="1667865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6766559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188720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결재자 세 명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작성 기안, Leader 검토, Champion 최종 승인 순서와 지금 누구 차례인지 보입니다.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766559" y="218998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171700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간사: 기안 상신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검토 리포트를 확인하고 창 맨 아래의 「기안 상신 (Leader 검토 요청)」을 누릅니다. 결재 의견을 적어야 저장됩니다.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766559" y="317296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154680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리더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본인 계정으로 로그인해 같은 Case의 같은 단계에서 검토서를 열고 승인합니다.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6766559" y="389534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877056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챔피언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같은 방법으로 최종 승인합니다. 이 승인으로 단계가 끝나고 다음 단계로 넘어갑니다.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59" y="5650992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5705855"/>
            <a:ext cx="474573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순서를 건너뛸 수 없습니다. 기안 후에 내용을 고치면 결재가 무효가 되어 다시 기안해야 합니다.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기한과 알림 메일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3369564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결재 · 기한 · 근거 · 보고서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6949437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7865"/>
                <a:gridCol w="1111910"/>
                <a:gridCol w="1111910"/>
                <a:gridCol w="1528876"/>
                <a:gridCol w="1528876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기한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임박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3D 봉쇄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D1~D3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24시간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12시간 이하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5D 원인·대책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D1~D5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14일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7일 이하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약 34시간 이하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8D 종결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D1~D8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15일 이하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3일 이하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108960"/>
          <a:ext cx="694943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6854"/>
                <a:gridCol w="3057753"/>
                <a:gridCol w="2084831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메일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보내는 때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받는 사람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부적합 공유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D1에서 팀이 확정될 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Case 팀원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기한 알림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주의, 임박, 초과(매일 1회)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Case 팀원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재발 모니터링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종결 후 확인 기한이 될 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Case 팀원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983480"/>
            <a:ext cx="6949440" cy="1280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기한은 접수 시각부터 잽니다. 지금 상태는 위쪽 「SLA 관제」에서 봅니다.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3D·5D 기한은 8D 리포트 화면에서 고객 송부 이력을 기록해야 완료로 처리됩니다. 8D는 송부 기록 또는 Case 종결입니다.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3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평가 기간에는 모든 메일이 시험 수신자 한 명에게만 갑니다.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188720"/>
            <a:ext cx="3959352" cy="512064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il_s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1058" y="1261872"/>
            <a:ext cx="3482035" cy="4974336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근거 자료 올리기 — Evidence 매트릭스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3369564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결재 · 기한 · 근거 · 보고서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949440" cy="4437078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6803136" cy="42907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94100" y="3002620"/>
            <a:ext cx="1099328" cy="275048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8652" y="284717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20700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188720"/>
            <a:ext cx="36667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증거 유형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고객 원본, 측정·검사 자료, FA 분석 자료, 기타 근거 자료 중에서 고릅니다.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06314" y="3002620"/>
            <a:ext cx="1071100" cy="275048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50866" y="284717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7680960" y="218998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171700"/>
            <a:ext cx="36667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연결 단계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D1~D8 중 이 파일이 근거가 되는 단계를 고릅니다.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90299" y="3008265"/>
            <a:ext cx="645286" cy="269402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34851" y="2852817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6" name="Oval 15"/>
          <p:cNvSpPr/>
          <p:nvPr/>
        </p:nvSpPr>
        <p:spPr>
          <a:xfrm>
            <a:off x="7680960" y="291236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894076"/>
            <a:ext cx="36667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파일 첨부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누르거나 파일을 끌어다 놓습니다. 여러 파일을 한 번에 올릴 수 있습니다. 파일당 30 MB.</a:t>
            </a:r>
          </a:p>
        </p:txBody>
      </p:sp>
      <p:sp>
        <p:nvSpPr>
          <p:cNvPr id="18" name="Oval 17"/>
          <p:cNvSpPr/>
          <p:nvPr/>
        </p:nvSpPr>
        <p:spPr>
          <a:xfrm>
            <a:off x="7680960" y="389534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877056"/>
            <a:ext cx="36667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확인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'QMS 원본 보관' 표시를 확인합니다. 목록의 「원본 보기」, 「다운로드」로 엽니다.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5422392"/>
            <a:ext cx="4050791" cy="8869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90688" y="5477255"/>
            <a:ext cx="3831335" cy="7955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단계 화면의 Evidence 칸에는 올린 파일의 이름을 그대로 적습니다. 파일은 결재 전에 모두 올립니다.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8D 보고서 — 출력과 송부 기록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3369564" cy="274320"/>
          </a:xfrm>
          <a:prstGeom prst="roundRect">
            <a:avLst>
              <a:gd name="adj" fmla="val 50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결재 · 기한 · 근거 · 보고서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583680" cy="4313236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ports_0_7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6437376" cy="416693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315200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188720"/>
            <a:ext cx="4032504" cy="1170431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보고서 고르기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GATE 01(3D, D1~D3), GATE 02(5D, D4~D5), GATE 03(8D, D6~D8) 중에서 고릅니다. 3D 보고서에는 원인 분석이 들어가지 않습니다.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4828" y="1607477"/>
            <a:ext cx="771138" cy="257868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099380" y="1452029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0" name="Oval 9"/>
          <p:cNvSpPr/>
          <p:nvPr/>
        </p:nvSpPr>
        <p:spPr>
          <a:xfrm>
            <a:off x="7315200" y="2450592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32304"/>
            <a:ext cx="40325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Excel 내려받기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Case에 기록된 내용을 그대로 Excel로 받습니다.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3841" y="1607477"/>
            <a:ext cx="788083" cy="257868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858393" y="1452029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0" y="3172968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40325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송부 전 AI 검토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빠진 내용을 한 번 더 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89798" y="1607477"/>
            <a:ext cx="911539" cy="257868"/>
          </a:xfrm>
          <a:prstGeom prst="rect">
            <a:avLst/>
          </a:prstGeom>
          <a:noFill/>
          <a:ln w="28575">
            <a:solidFill>
              <a:srgbClr val="F26A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34350" y="1452029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0" y="3895344"/>
            <a:ext cx="274320" cy="274320"/>
          </a:xfrm>
          <a:prstGeom prst="ellipse">
            <a:avLst/>
          </a:prstGeom>
          <a:solidFill>
            <a:srgbClr val="F26A1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77056"/>
            <a:ext cx="403250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A4 인쇄 / PDF 저장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PDF로 저장하거나 인쇄합니다.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0" y="461772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599432"/>
            <a:ext cx="403250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결재와 송부 기록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보고서 내부 결재 후, 담당자가 고객에게 직접 메일로 보내고 수신자·시각·보관 위치를 송부 이력으로 기록합니다.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5673852"/>
            <a:ext cx="441655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5728716"/>
            <a:ext cx="419709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시스템은 고객에게 메일을 보내지 않습니다. 결재되지 않은 범위는 DRAFT·미결재로 표시됩니다.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외주 품질 관리 — 다섯 개 메뉴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615184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외주 품질 · 내부 품질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공식 외주사는 TechL, WinPAC, CTST 세 곳입니다. 외주사 계정은 자기 업체 건만 봅니다. 이 메뉴에는 AI 추천이 없고 규칙으로 점검합니다.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57400"/>
          <a:ext cx="11274551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5892"/>
                <a:gridCol w="2029419"/>
                <a:gridCol w="653924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방향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무엇을 하나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품질 현황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조회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외주사별 접수·통보·불량 기록을 모아 봅니다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PCN 변경 관리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→ 우리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외주사가 공정·자재·조건 변경을 신고하고 우리가 심의합니다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Issue·부적합 관리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→ 우리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외주사가 자기 공정의 이상·부적합을 신고하고 우리가 심의합니다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부적합 통보 관리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 → 외주사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우리가 외주사에 부적합을 통보하고 회신을 받습니다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제품별 조립 불량 관리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사내 기록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 조립 불량을 한 건씩 등록하고 품목별로 모아 봅니다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외주 PCN · Issue 접수와 심의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615184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외주 품질 · 내부 품질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035040" cy="454453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_pcn_new_0_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888736" cy="439822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66559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신규 PCN 접수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외주사 담당자가 로그인해 등록합니다. 사내 담당자가 대신 등록할 수도 있습니다. Issue도 같은 방식입니다.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766559" y="218998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171700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내용 입력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대상 제품, 품목코드, Lot, 4M 분류, 변경 사유와 상세 내용을 적고 원본 파일을 첨부합니다.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766559" y="317296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154680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심의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품질 검토 권한자가 목록에서 건을 열어 심의를 시작합니다. 부족하면 「보완 요청」, 끝나면 의견과 함께 승인 또는 반려합니다.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766559" y="415594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137660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8D 연결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관련 Case가 있으면 실제 Case 번호에 연결합니다. 연결된 접수의 내용과 파일은 Case의 D4로 가져올 수 있습니다.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59" y="5650992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5705855"/>
            <a:ext cx="474573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연결은 참조만 남깁니다. Case를 새로 만들거나 Case 내용을 대신 채우지 않습니다.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외주사에 부적합 통보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615184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외주 품질 · 내부 품질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035040" cy="454453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p_notice_new_0_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888736" cy="439822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66559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신규 통보 등록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대상 외주사, 통보 제목, 현상, 요청 사항, 회신 기한을 적습니다. 확인되지 않은 수량과 원인은 비워 둡니다.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766559" y="218998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171700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외주사에 공개 · 회신 요청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품질 검토 권한자가 누르면 그 외주사의 수신함에 나타나고 '회신 대기'가 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766559" y="317296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154680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외주사 회신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외주사가 「외주사 회신 등록」으로 조치와 분석 자료를 올립니다. 메일·전화로 받은 회신은 사내 담당자가 따로 기록합니다.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766559" y="415594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4137660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검증 확인 · 종결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회신을 검토하고, 검증 내용과 근거 파일을 갖추어 종결합니다.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59" y="5650992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5705855"/>
            <a:ext cx="474573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수신함 공개는 메일 발송이 아닙니다. 급하면 담당자가 따로 연락합니다.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제품별 외주 조립 불량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615184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외주 품질 · 내부 품질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035040" cy="454453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sm_new_0_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888736" cy="439822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66559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조립 불량 등록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외주사, 품목코드(P/N), 발생일, 불량 유형, 불량 수량이 필수입니다.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766559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11095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투입 수량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모르면 비워 둡니다. 0을 넣지 않습니다. 투입 수량이 없는 기록은 불량률 계산에서 빠집니다.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766559" y="2651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633472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불량 유형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같은 문구로 적어야 같은 유형으로 합쳐집니다.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6766559" y="3374136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355848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상태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접수 → 조치 중 → 종결. 종결은 품질 검토 권한자가 조치 결과를 적고 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59" y="5650992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5705855"/>
            <a:ext cx="474573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사내 계정만 씁니다. 여기에 쌓인 기록은 D7 수평전개 후보를 만들 때도 쓰입니다.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내부 품질 — 내부 Issue · 내부 PCN 등록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615184" cy="274320"/>
          </a:xfrm>
          <a:prstGeom prst="roundRect">
            <a:avLst>
              <a:gd name="adj" fmla="val 50000"/>
            </a:avLst>
          </a:prstGeom>
          <a:solidFill>
            <a:srgbClr val="1E7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외주 품질 · 내부 품질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6035040" cy="4544530"/>
          </a:xfrm>
          <a:prstGeom prst="roundRect">
            <a:avLst>
              <a:gd name="adj" fmla="val 6000"/>
            </a:avLst>
          </a:prstGeom>
          <a:solidFill>
            <a:srgbClr val="1E2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nt_issue_new_0_9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261872"/>
            <a:ext cx="5888736" cy="4398226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766559" y="1207008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188720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신규 등록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「내부 Issue·부적합 관리」 또는 「내부 PCN 변경 관리」에서 누릅니다.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766559" y="1929384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911095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내용 입력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확인된 내용만 적습니다. 제품·품번·Lot은 필요할 때만, 모르는 수량은 비워 둡니다.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766559" y="2651760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633472"/>
            <a:ext cx="4581144" cy="649224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원본 첨부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사진, PDF, Excel, 메일 등. 한 번에 최대 10개, 합계 30 MB.</a:t>
            </a:r>
          </a:p>
        </p:txBody>
      </p:sp>
      <p:sp>
        <p:nvSpPr>
          <p:cNvPr id="12" name="Oval 11"/>
          <p:cNvSpPr/>
          <p:nvPr/>
        </p:nvSpPr>
        <p:spPr>
          <a:xfrm>
            <a:off x="6766559" y="3374136"/>
            <a:ext cx="274320" cy="27432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355848"/>
            <a:ext cx="4581144" cy="909828"/>
          </a:xfrm>
          <a:prstGeom prst="rect">
            <a:avLst/>
          </a:prstGeom>
          <a:noFill/>
        </p:spPr>
        <p:txBody>
          <a:bodyPr wrap="square" lIns="36576" rIns="36576" tIns="9144" bIns="9144">
            <a:spAutoFit/>
          </a:bodyPr>
          <a:lstStyle/>
          <a:p>
            <a:pPr>
              <a:buNone/>
            </a:pPr>
            <a:r>
              <a:rPr sz="1400" b="1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상태 변경  </a:t>
            </a:r>
            <a:r>
              <a:rPr sz="14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Issue: 접수 → 검토 중 → 조치 중 → 종결. PCN: 접수 → 검토 중 → 승인 → 적용 완료. 품질 검토 권한자만 바꿉니다.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59" y="5650992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EEF0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76288" y="5705855"/>
            <a:ext cx="4745736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2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승인·종결·적용 완료에는 검증 결과와 근거 파일이 필요합니다. 내부 PCN 승인은 고객 승인이나 8D 승인이 아닙니다.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AI가 하는 일과 사람이 하는 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615184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AI 원칙 · 문제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AI가 낸 내용은 사람이 「적용」, 「추가」, 「채우기」 버튼을 눌러야 Case에 들어갑니다. 시료 수 계산, 전·후 비교, 점검은 AI가 아니라 공식과 규칙입니다.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057400"/>
          <a:ext cx="1127455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455"/>
                <a:gridCol w="5411784"/>
                <a:gridCol w="4735311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AI가 하는 일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사람이 하는 일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메일·문서에서 접수 칸 채우기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원본과 대조, 위험도·8D 발행 결정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D2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5W2H 사실 항목, IS/IS NOT 비교, 문제 정의문 초안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행마다 사실 확인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품질도구와 순서 추천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 수행, 원인 확정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D5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확정 원인별 대책 후보 추천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대책 선정, 담당·일정·근거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계획 추천, 성적서 값 옮겨 적기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시험 수행, PASS/FAIL 판정, 봉쇄 해제 결정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D7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개정 문서·PFMEA 초안, 동일 위험 판단, 교훈 요약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번호·Revision·점수, 전개 실행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일관성 검토, 잔여 위험·고객 요약·팀 인정 초안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종결 점검 확인, 결재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AI 사용 원칙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615184" cy="274320"/>
          </a:xfrm>
          <a:prstGeom prst="roundRect">
            <a:avLst>
              <a:gd name="adj" fmla="val 50000"/>
            </a:avLst>
          </a:prstGeom>
          <a:solidFill>
            <a:srgbClr val="6A3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AI 원칙 · 문제 해결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532120" cy="3291840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44751"/>
            <a:ext cx="51663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000" b="1" i="0">
                <a:solidFill>
                  <a:srgbClr val="B42318"/>
                </a:solidFill>
                <a:latin typeface="맑은 고딕"/>
                <a:ea typeface="맑은 고딕"/>
                <a:cs typeface="맑은 고딕"/>
              </a:rPr>
              <a:t>AI가 하지 않는 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5166359" cy="2514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원인을 확정하지 않습니다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측정값, 시험 결과, 수량을 만들지 않습니다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PASS/FAIL 판정, 대책 선정, 봉쇄 해제를 정하지 않습니다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담당자, 목표일, 문서 번호를 채우지 않습니다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결재하지 않고, 고객·외주사에 보내지 않습니다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280160"/>
            <a:ext cx="5532120" cy="3291840"/>
          </a:xfrm>
          <a:prstGeom prst="roundRect">
            <a:avLst>
              <a:gd name="adj" fmla="val 6000"/>
            </a:avLst>
          </a:prstGeom>
          <a:solidFill>
            <a:srgbClr val="F0E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444751"/>
            <a:ext cx="5166359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2000" b="1" i="0">
                <a:solidFill>
                  <a:srgbClr val="6A3FC8"/>
                </a:solidFill>
                <a:latin typeface="맑은 고딕"/>
                <a:ea typeface="맑은 고딕"/>
                <a:cs typeface="맑은 고딕"/>
              </a:rPr>
              <a:t>사람이 꼭 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938528"/>
            <a:ext cx="5166359" cy="2514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 초안은 빠뜨릴 수 있습니다. 옮긴 뒤 빠진 내용을 보탭니다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숫자는 원본과 나란히 놓고 대조합니다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 버튼을 누르면 기록이나 파일이 외부 AI로 전송됩니다</a:t>
            </a:r>
          </a:p>
          <a:p>
            <a:pPr algn="l" marL="201168" indent="-164592">
              <a:spcAft>
                <a:spcPts val="900"/>
              </a:spcAft>
              <a:buClr>
                <a:srgbClr val="1F2937"/>
              </a:buClr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맑은 고딕"/>
                <a:ea typeface="맑은 고딕"/>
                <a:cs typeface="맑은 고딕"/>
              </a:rPr>
              <a:t>AI가 응답하지 않아도 모든 칸은 직접 입력할 수 있습니다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46320"/>
            <a:ext cx="11274552" cy="109728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901184"/>
            <a:ext cx="10698480" cy="98755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Aft>
                <a:spcPts val="300"/>
              </a:spcAft>
              <a:buNone/>
            </a:pPr>
            <a:r>
              <a:rPr sz="24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AI는 제안하고, 결정은 사람이 합니다.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자주 묻는 질문 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615184" cy="27432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AI 원칙 · 문제 해결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1274551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3347"/>
                <a:gridCol w="3720602"/>
                <a:gridCol w="3720602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로그인이 안 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ID에 이메일 전체를 넣었거나 비밀번호가 다름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ID는 @ 앞자리만. 비밀번호는 IT팀에 확인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"해당 결재자 계정으로 접속해 주세요"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 Case의 D1 팀에 결재자로 지정되지 않은 계정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지정된 본인 계정으로 로그인. 지정이 틀렸으면 간사가 D1 팀 수정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"결재 순서가 변경되었거나 이미 처리됐습니다"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앞 사람이 아직 결재하지 않았거나 이미 끝난 결재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새로고침 후 검토서에서 누구 차례인지 확인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"기안 이후 내용이 달라졌거나 구형 결재입니다"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기안 후에 단계 내용이나 근거 파일이 바뀜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간사가 내용을 확인하고 다시 기안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다음 단계를 결재에 올릴 수 없음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앞 단계가 챔피언 승인까지 끝나지 않음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앞 단계 결재를 먼저 완료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사람이 고친 내용이 안 보임, 저장이 거절됨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화면이 예전 내용을 들고 있음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위쪽 「새로고침」을 누른 뒤 다시 작업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맑은 고딕"/>
              </a:rPr>
              <a:t> 자주 묻는 질문 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49808"/>
            <a:ext cx="2615184" cy="274320"/>
          </a:xfrm>
          <a:prstGeom prst="roundRect">
            <a:avLst>
              <a:gd name="adj" fmla="val 50000"/>
            </a:avLst>
          </a:pr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AI 원칙 · 문제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274552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300"/>
              </a:spcAft>
              <a:buNone/>
            </a:pPr>
            <a:r>
              <a:rPr sz="1500" b="0" i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표에 없는 문제는 품질혁신팀에 문의합니다.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73936"/>
          <a:ext cx="11274551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2365"/>
                <a:gridCol w="3946093"/>
                <a:gridCol w="3946093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해결</a:t>
                      </a:r>
                    </a:p>
                  </a:txBody>
                  <a:tcPr marL="73152" marR="73152" marT="36576" marB="36576" anchor="ctr">
                    <a:solidFill>
                      <a:srgbClr val="00206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버튼이 오래 걸리거나 실패함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외부 AI 응답 지연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잠시 뒤 다시 누름. 급하면 직접 입력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성적서 읽기 값이 틀림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양식의 '찾는 위치 안내'가 실제 성적서와 다름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값은 시험 행에서 직접 고치고 양식의 안내를 수정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파일 첨부가 일부만 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 MB 초과, 허용되지 않는 형식, 연결 끊김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새로고침해 목록을 확인하고 빠진 파일만 다시 올림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알림 메일이 오지 않음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 기간에는 시험 수신자 한 명에게만 발송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정상. 기한은 위쪽 「SLA 관제」에서 확인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접수나 Case를 잘못 만듦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관리자에게 사유와 함께 삭제 요청. 삭제된 기록은 보관됨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계정에서 메뉴가 적게 보임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외주사는 자기 업체의 접수·통보 화면만 사용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F2937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</a:t>
                      </a:r>
                    </a:p>
                  </a:txBody>
                  <a:tcPr marL="73152" marR="73152" marT="36576" marB="36576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7F48A6-5432-4C6E-B251-71BEC06773F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e6128c9-49d1-4c71-8a6e-d992475c6d6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261522</TotalTime>
  <Words>11</Words>
  <Application>Microsoft Office PowerPoint</Application>
  <PresentationFormat>와이드스크린</PresentationFormat>
  <Paragraphs>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Noto Sans KR</vt:lpstr>
      <vt:lpstr>굴림</vt:lpstr>
      <vt:lpstr>맑은 고딕</vt:lpstr>
      <vt:lpstr>Arial</vt:lpstr>
      <vt:lpstr>1_Office 테마</vt:lpstr>
      <vt:lpstr>디자인 사용자 지정</vt:lpstr>
      <vt:lpstr>2_Office 테마</vt:lpstr>
      <vt:lpstr>제목</vt:lpstr>
      <vt:lpstr> Content</vt:lpstr>
      <vt:lpstr> 본문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SAMSUNG</dc:creator>
  <cp:lastModifiedBy>QA_KIM</cp:lastModifiedBy>
  <cp:revision>6288</cp:revision>
  <cp:lastPrinted>2025-10-24T01:55:58Z</cp:lastPrinted>
  <dcterms:created xsi:type="dcterms:W3CDTF">2021-06-08T01:46:37Z</dcterms:created>
  <dcterms:modified xsi:type="dcterms:W3CDTF">2026-10-03T22:46:15Z</dcterms:modified>
</cp:coreProperties>
</file>